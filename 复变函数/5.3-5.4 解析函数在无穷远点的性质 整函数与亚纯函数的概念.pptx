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524" r:id="rId3"/>
    <p:sldId id="927" r:id="rId4"/>
    <p:sldId id="9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19708-CFF3-4BFD-93B9-430E29BBA27A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1EF37-69FA-49E4-A5EE-FADACD6C3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5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FCEB4-A6C3-FA58-DAE7-D693B512E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21CE8C-4111-7644-D170-A63041684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72839-D918-B991-B66D-A150B56D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D31DB2-B851-4E4C-5E73-33265178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33487-0129-421D-CA52-7ECA15F4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49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34D4C-CB38-4E82-EB3D-BE68876F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378A9-5106-F50A-6512-1A5E1931B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ADD0AE-8C81-1B1A-0A0E-B5E69FAC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7B010-57E7-15FA-3E2B-6C5D55A0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CDDB1-A6E4-DE2A-013C-77AC2A56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50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81666-833C-81AD-7E05-CE7BEF38F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03223E-226B-CEC2-9E35-269DF6EE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35BC-3DB9-D764-CE71-E7AB13C0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9AA3C-B58B-7322-F388-9CE6F3E0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2B26D-A6CD-256B-54CA-D41F363F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8E9FC-F09A-C0DB-334C-FF47BC4C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61E9CE-5606-9392-A58F-B89431A1E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10B1B4-1671-1766-2585-425C1FB73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9E6D6B-701E-F9DB-E01E-B9EAE3F7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EFF178-237F-B340-B241-B546D1B5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05CB33-FF60-7746-D3AB-C972ECDB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5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D59DA-FE49-35C3-D45C-72E9BCABC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99D20-1CC1-8BCB-51D0-B52E77BCC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F02FF0-6906-6442-810F-C0A701AF2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278F47-0FE4-E988-458C-E2DBF8163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EFABC5-4827-73A0-D5BD-3A254BC03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432E46-E729-D4D5-D6B0-D76DB1AA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FA65FB-2220-24BA-8DBB-C707E89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EF3161-500D-C590-A461-12BEA56E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02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FA79D-2B56-A60E-6DAB-F7D6A15E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80BA75-0270-445C-8D7F-2373067D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79238A-5D3D-9415-60C1-F0E3A7C3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55BC9A-DA36-446E-4508-2D9B4E28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341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AAC4E2-5052-9C93-4BFA-53D2725A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25B043-E26A-DE8D-B695-7DFB1E80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3484B-18E4-C539-2DD5-868B515B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34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FE981-CD22-9AFE-D908-BA11F322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39567-01FF-751F-ECE2-FE18D13EE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DD873D-B2DE-22C7-D7CE-AD54856EA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E3A2AC-56DE-C50B-EB7D-92A51598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22E8A-D458-50C3-AFD7-C3FCC3DA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357F1-ABD4-0449-45A0-8E95899F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38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79397-1D97-3B09-E8D7-857D321D3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2C93AA-8664-5455-42F6-C59DA22E1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5DFD1A-B0C8-A283-AB87-56F48DD7F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4AE79-11D9-DE95-1A07-461E00C0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BC2B1-5096-8EDE-C3C1-B803F45B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A490B1-710F-309A-D532-456E8D6F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52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D2A8F-B345-C838-7765-FDB6DD6F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13ED71-1507-A029-8BF2-82DF2F39B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119D8-32D7-D82B-B0FC-4DE58F8F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9DF954-AA4A-ADEF-CC49-7B3301DE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687E9-4C70-906C-7107-2EEBB630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7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1B1B3B-EB48-8398-D089-1A0D86872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89DDC4-CF73-FDD1-E16F-90E24E6E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6C394-394F-CC59-2F30-E709EC4E4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C3542-4DD8-153B-584C-EADE7A2B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742CD-1B17-3E6B-3C62-E9602D02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677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199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92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49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03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17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337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474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362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366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45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2358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44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5555E1-C3BA-378B-3556-888D64D0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3F9692-58DA-11E8-158A-91519A1DD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BB5E9-06C8-FA3C-2681-C2FEEF13A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D1C4D-4BB3-48D1-8D4D-944041164F1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4C5D3D-0A30-9988-A71C-6112C5DB2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39CC73-4452-BB46-1F88-F488B0EFC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B94F4-6645-413C-B72E-1676EE926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6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16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878" y="2949317"/>
            <a:ext cx="96130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第五章 解析函数的洛朗展式与孤立奇点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B3C429B-0E6F-A0D7-5AE8-37386B97AFCE}"/>
              </a:ext>
            </a:extLst>
          </p:cNvPr>
          <p:cNvSpPr txBox="1"/>
          <p:nvPr/>
        </p:nvSpPr>
        <p:spPr>
          <a:xfrm>
            <a:off x="3755790" y="3714941"/>
            <a:ext cx="4823613" cy="79568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5.3-5.4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解析函数在无穷远点的性质 整函数与亚纯函数的概念</a:t>
            </a:r>
          </a:p>
        </p:txBody>
      </p:sp>
    </p:spTree>
    <p:extLst>
      <p:ext uri="{BB962C8B-B14F-4D97-AF65-F5344CB8AC3E}">
        <p14:creationId xmlns:p14="http://schemas.microsoft.com/office/powerpoint/2010/main" val="245883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9771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解析函数在无穷远点的性质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" name="Group 18"/>
          <p:cNvGrpSpPr>
            <a:grpSpLocks/>
          </p:cNvGrpSpPr>
          <p:nvPr/>
        </p:nvGrpSpPr>
        <p:grpSpPr bwMode="auto">
          <a:xfrm>
            <a:off x="7622848" y="2617390"/>
            <a:ext cx="3241675" cy="3338513"/>
            <a:chOff x="1798" y="1680"/>
            <a:chExt cx="2042" cy="2103"/>
          </a:xfrm>
        </p:grpSpPr>
        <p:grpSp>
          <p:nvGrpSpPr>
            <p:cNvPr id="58" name="Group 19"/>
            <p:cNvGrpSpPr>
              <a:grpSpLocks/>
            </p:cNvGrpSpPr>
            <p:nvPr/>
          </p:nvGrpSpPr>
          <p:grpSpPr bwMode="auto">
            <a:xfrm>
              <a:off x="2038" y="2073"/>
              <a:ext cx="1488" cy="1488"/>
              <a:chOff x="1828" y="2178"/>
              <a:chExt cx="1488" cy="1488"/>
            </a:xfrm>
          </p:grpSpPr>
          <p:sp>
            <p:nvSpPr>
              <p:cNvPr id="65" name="Rectangle 20"/>
              <p:cNvSpPr>
                <a:spLocks noChangeArrowheads="1"/>
              </p:cNvSpPr>
              <p:nvPr/>
            </p:nvSpPr>
            <p:spPr bwMode="auto">
              <a:xfrm>
                <a:off x="1828" y="2178"/>
                <a:ext cx="1488" cy="1488"/>
              </a:xfrm>
              <a:prstGeom prst="rect">
                <a:avLst/>
              </a:prstGeom>
              <a:solidFill>
                <a:srgbClr val="3399FF"/>
              </a:solidFill>
              <a:ln w="9525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Oval 21"/>
              <p:cNvSpPr>
                <a:spLocks noChangeArrowheads="1"/>
              </p:cNvSpPr>
              <p:nvPr/>
            </p:nvSpPr>
            <p:spPr bwMode="auto">
              <a:xfrm>
                <a:off x="2086" y="2448"/>
                <a:ext cx="960" cy="960"/>
              </a:xfrm>
              <a:prstGeom prst="ellipse">
                <a:avLst/>
              </a:prstGeom>
              <a:solidFill>
                <a:srgbClr val="F8F8F8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22"/>
              <p:cNvSpPr>
                <a:spLocks noChangeShapeType="1"/>
              </p:cNvSpPr>
              <p:nvPr/>
            </p:nvSpPr>
            <p:spPr bwMode="auto">
              <a:xfrm flipV="1">
                <a:off x="2566" y="2592"/>
                <a:ext cx="336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Text Box 23"/>
              <p:cNvSpPr txBox="1">
                <a:spLocks noChangeArrowheads="1"/>
              </p:cNvSpPr>
              <p:nvPr/>
            </p:nvSpPr>
            <p:spPr bwMode="auto">
              <a:xfrm>
                <a:off x="2758" y="2592"/>
                <a:ext cx="26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9" name="Group 24"/>
            <p:cNvGrpSpPr>
              <a:grpSpLocks/>
            </p:cNvGrpSpPr>
            <p:nvPr/>
          </p:nvGrpSpPr>
          <p:grpSpPr bwMode="auto">
            <a:xfrm>
              <a:off x="1798" y="1680"/>
              <a:ext cx="2042" cy="2103"/>
              <a:chOff x="1606" y="1785"/>
              <a:chExt cx="2042" cy="2103"/>
            </a:xfrm>
          </p:grpSpPr>
          <p:sp>
            <p:nvSpPr>
              <p:cNvPr id="60" name="Line 25"/>
              <p:cNvSpPr>
                <a:spLocks noChangeShapeType="1"/>
              </p:cNvSpPr>
              <p:nvPr/>
            </p:nvSpPr>
            <p:spPr bwMode="auto">
              <a:xfrm>
                <a:off x="1606" y="2928"/>
                <a:ext cx="201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Line 26"/>
              <p:cNvSpPr>
                <a:spLocks noChangeShapeType="1"/>
              </p:cNvSpPr>
              <p:nvPr/>
            </p:nvSpPr>
            <p:spPr bwMode="auto">
              <a:xfrm flipV="1">
                <a:off x="2566" y="1968"/>
                <a:ext cx="0" cy="19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Text Box 27"/>
              <p:cNvSpPr txBox="1">
                <a:spLocks noChangeArrowheads="1"/>
              </p:cNvSpPr>
              <p:nvPr/>
            </p:nvSpPr>
            <p:spPr bwMode="auto">
              <a:xfrm>
                <a:off x="3420" y="288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Text Box 28"/>
              <p:cNvSpPr txBox="1">
                <a:spLocks noChangeArrowheads="1"/>
              </p:cNvSpPr>
              <p:nvPr/>
            </p:nvSpPr>
            <p:spPr bwMode="auto">
              <a:xfrm>
                <a:off x="2592" y="1785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y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Text Box 29"/>
              <p:cNvSpPr txBox="1">
                <a:spLocks noChangeArrowheads="1"/>
              </p:cNvSpPr>
              <p:nvPr/>
            </p:nvSpPr>
            <p:spPr bwMode="auto">
              <a:xfrm>
                <a:off x="2544" y="282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1225357" y="1087760"/>
            <a:ext cx="1257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</a:t>
            </a:r>
          </a:p>
        </p:txBody>
      </p:sp>
      <p:graphicFrame>
        <p:nvGraphicFramePr>
          <p:cNvPr id="32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318908"/>
              </p:ext>
            </p:extLst>
          </p:nvPr>
        </p:nvGraphicFramePr>
        <p:xfrm>
          <a:off x="1441898" y="1729184"/>
          <a:ext cx="9829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68600" imgH="482400" progId="Equation.DSMT4">
                  <p:embed/>
                </p:oleObj>
              </mc:Choice>
              <mc:Fallback>
                <p:oleObj name="Equation" r:id="rId3" imgW="4368600" imgH="482400" progId="Equation.DSMT4">
                  <p:embed/>
                  <p:pic>
                    <p:nvPicPr>
                      <p:cNvPr id="3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898" y="1729184"/>
                        <a:ext cx="9829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837249"/>
              </p:ext>
            </p:extLst>
          </p:nvPr>
        </p:nvGraphicFramePr>
        <p:xfrm>
          <a:off x="1441898" y="2852844"/>
          <a:ext cx="48291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45960" imgH="215640" progId="Equation.DSMT4">
                  <p:embed/>
                </p:oleObj>
              </mc:Choice>
              <mc:Fallback>
                <p:oleObj name="Equation" r:id="rId5" imgW="2145960" imgH="215640" progId="Equation.DSMT4">
                  <p:embed/>
                  <p:pic>
                    <p:nvPicPr>
                      <p:cNvPr id="34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898" y="2852844"/>
                        <a:ext cx="48291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9C6EEB7-65D9-8241-910F-693B2CC37833}"/>
              </a:ext>
            </a:extLst>
          </p:cNvPr>
          <p:cNvCxnSpPr>
            <a:cxnSpLocks/>
          </p:cNvCxnSpPr>
          <p:nvPr/>
        </p:nvCxnSpPr>
        <p:spPr>
          <a:xfrm flipV="1">
            <a:off x="8557978" y="5314566"/>
            <a:ext cx="27563" cy="5976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7A4EA55-10FC-5D7C-9122-11B601970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853598"/>
              </p:ext>
            </p:extLst>
          </p:nvPr>
        </p:nvGraphicFramePr>
        <p:xfrm>
          <a:off x="7737941" y="5959946"/>
          <a:ext cx="32416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41305" imgH="266523" progId="Equation.DSMT4">
                  <p:embed/>
                </p:oleObj>
              </mc:Choice>
              <mc:Fallback>
                <p:oleObj name="Equation" r:id="rId7" imgW="3241305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37941" y="5959946"/>
                        <a:ext cx="3241675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2525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038F-F3E9-6388-0B83-19DEBEC3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3053254-634D-6919-E5E1-CA27B9C71ECE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ADEDB7DC-87C0-C891-ED78-1D0689B71E2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BFF11ADC-4929-DD45-C2BA-2E2CD2DF1B18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9771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整函数与亚纯函数的概念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2DE25F2-026D-883C-C217-10833AA80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43088"/>
              </p:ext>
            </p:extLst>
          </p:nvPr>
        </p:nvGraphicFramePr>
        <p:xfrm>
          <a:off x="687388" y="950441"/>
          <a:ext cx="12255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190440" progId="Equation.DSMT4">
                  <p:embed/>
                </p:oleObj>
              </mc:Choice>
              <mc:Fallback>
                <p:oleObj name="Equation" r:id="rId3" imgW="583920" imgH="1904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950441"/>
                        <a:ext cx="12255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885054E-8F13-3810-669F-C74E5F243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582127"/>
              </p:ext>
            </p:extLst>
          </p:nvPr>
        </p:nvGraphicFramePr>
        <p:xfrm>
          <a:off x="848513" y="1562765"/>
          <a:ext cx="13858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240" imgH="190440" progId="Equation.DSMT4">
                  <p:embed/>
                </p:oleObj>
              </mc:Choice>
              <mc:Fallback>
                <p:oleObj name="Equation" r:id="rId5" imgW="660240" imgH="1904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3" y="1562765"/>
                        <a:ext cx="13858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9525CB3-BBC0-DD1D-F30C-9A5919579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657253"/>
              </p:ext>
            </p:extLst>
          </p:nvPr>
        </p:nvGraphicFramePr>
        <p:xfrm>
          <a:off x="2432050" y="1570976"/>
          <a:ext cx="54641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03160" imgH="203040" progId="Equation.DSMT4">
                  <p:embed/>
                </p:oleObj>
              </mc:Choice>
              <mc:Fallback>
                <p:oleObj name="Equation" r:id="rId7" imgW="2603160" imgH="203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1570976"/>
                        <a:ext cx="54641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9E55F1B-3E88-5BC8-C007-C3D217D3E6A2}"/>
              </a:ext>
            </a:extLst>
          </p:cNvPr>
          <p:cNvCxnSpPr/>
          <p:nvPr/>
        </p:nvCxnSpPr>
        <p:spPr>
          <a:xfrm>
            <a:off x="3451523" y="1988215"/>
            <a:ext cx="74256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80A77D8-9169-D854-37DB-C9760BB10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442310"/>
              </p:ext>
            </p:extLst>
          </p:nvPr>
        </p:nvGraphicFramePr>
        <p:xfrm>
          <a:off x="3756813" y="2004636"/>
          <a:ext cx="25177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17360" imgH="215640" progId="Equation.DSMT4">
                  <p:embed/>
                </p:oleObj>
              </mc:Choice>
              <mc:Fallback>
                <p:oleObj name="Equation" r:id="rId9" imgW="1917360" imgH="215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CE37BA8-A37A-5E69-0DE6-F1855CB25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56813" y="2004636"/>
                        <a:ext cx="2517775" cy="28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420DEFB-B07A-8FEC-F081-6C1F0AF51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785331"/>
              </p:ext>
            </p:extLst>
          </p:nvPr>
        </p:nvGraphicFramePr>
        <p:xfrm>
          <a:off x="862013" y="2888568"/>
          <a:ext cx="7034212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52680" imgH="444240" progId="Equation.DSMT4">
                  <p:embed/>
                </p:oleObj>
              </mc:Choice>
              <mc:Fallback>
                <p:oleObj name="Equation" r:id="rId11" imgW="3352680" imgH="4442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2888568"/>
                        <a:ext cx="7034212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483762F-A0E7-200D-E508-F7C25F2DB001}"/>
              </a:ext>
            </a:extLst>
          </p:cNvPr>
          <p:cNvCxnSpPr/>
          <p:nvPr/>
        </p:nvCxnSpPr>
        <p:spPr>
          <a:xfrm>
            <a:off x="3217298" y="3331176"/>
            <a:ext cx="74256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DAB437A-E531-B2C0-4BD6-4ED817E9B9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314413"/>
              </p:ext>
            </p:extLst>
          </p:nvPr>
        </p:nvGraphicFramePr>
        <p:xfrm>
          <a:off x="3578225" y="2674579"/>
          <a:ext cx="25177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17360" imgH="215640" progId="Equation.DSMT4">
                  <p:embed/>
                </p:oleObj>
              </mc:Choice>
              <mc:Fallback>
                <p:oleObj name="Equation" r:id="rId9" imgW="1917360" imgH="215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80A77D8-9169-D854-37DB-C9760BB105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78225" y="2674579"/>
                        <a:ext cx="2517775" cy="28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0062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48</Words>
  <Application>Microsoft Office PowerPoint</Application>
  <PresentationFormat>宽屏</PresentationFormat>
  <Paragraphs>11</Paragraphs>
  <Slides>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等线</vt:lpstr>
      <vt:lpstr>等线 Light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36</cp:revision>
  <dcterms:created xsi:type="dcterms:W3CDTF">2025-08-03T09:02:52Z</dcterms:created>
  <dcterms:modified xsi:type="dcterms:W3CDTF">2025-10-27T13:05:47Z</dcterms:modified>
</cp:coreProperties>
</file>
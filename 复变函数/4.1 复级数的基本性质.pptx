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524" r:id="rId3"/>
    <p:sldId id="770" r:id="rId4"/>
    <p:sldId id="897" r:id="rId5"/>
    <p:sldId id="912" r:id="rId6"/>
    <p:sldId id="901" r:id="rId7"/>
    <p:sldId id="902" r:id="rId8"/>
    <p:sldId id="905" r:id="rId9"/>
    <p:sldId id="906" r:id="rId10"/>
    <p:sldId id="90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10E3-3FE7-46EC-B6A6-4EAC0A3E5D8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C4343-F36D-40A7-AB48-90AED7FBE7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8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0A0A30-BB03-4908-BCA7-D010DAA4C75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0A0A30-BB03-4908-BCA7-D010DAA4C75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0A0A30-BB03-4908-BCA7-D010DAA4C75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493D2-1BD4-0BBC-325F-05D860CF1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9CC9FA-AD2E-E344-8E97-F0EEE9A3A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E80E4-F7B0-48C2-8753-2CE0117C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82749-2905-176F-D561-903305A0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899A1-58C4-C1D3-8427-85E5F27C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33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2708A-25EB-A23E-4571-6F17F629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1E8D3-BEA6-22C8-352B-C6F6C46C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6FD30-B799-FA3D-C138-61203C8DA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2B9D0-460E-FFCB-4CCF-3DA63BE4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A4F2CF-41D6-0417-B9B0-1D85ACEB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38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6B96B-14DD-0591-18E9-4C089AEC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268885-64AF-8E1E-7511-2C8B11DC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2928BB-4460-F8B9-B6F8-502B4DF7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937C94-40BA-5961-6125-7338F93D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D10D4B-5586-E238-ADFC-A4098BEE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422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AE1611-317A-597A-44A0-4C7C778E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3552A-E4D4-0802-F6DD-6BBB12A67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CC2E61-EAE5-E1A0-0106-9A38869C0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4CDD4E-0896-4F17-8C7B-4D397A5B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161EFD-9DD5-1ABA-C03D-6C21B174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32D131-EA2B-C85E-E273-354E33DC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00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43412-3FE7-4411-F7F2-E2E4FFE6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5DDF52-7B0F-254F-6652-572B9F32C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DCA33F-BA4C-78F9-C091-09156FC3A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1D6AFC-06D2-D7D6-5AB2-B7E833CBC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1D692D-1057-7369-347F-0E84165CDA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B28AEF-B554-9320-0BDA-45191A6F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ED1816-E926-C2F1-63A8-C367A4BD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14C6A6-3AE5-112C-FEF8-C7BA5B69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5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264D1-6616-0D83-FCCE-A1485A83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44A167-4D66-FF3C-B208-CBD041CE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079740-5932-3258-F94B-C90B61A01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CBF388-EA6C-D3F6-2EC9-3362C83B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93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87A9E6-C352-D5F0-A592-D76123BB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094C24-4C9E-9CC1-B77B-5C39DA2EF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3E66F-EE17-DE3C-97DB-AA72B649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48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DB8B0-37A0-3E39-1DEF-CFD47D12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E71B02-9941-F1FF-EFAB-3E8042CA0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2E1BCB-0110-B845-1559-C1AC541DB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FA38AD-568A-C073-1BCF-89BABECC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682E9D-E778-9465-5078-4A0603DE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36D108-F222-AA32-D346-B66295DD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37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310BB-89EE-E659-3B0D-E0396153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7D68CD-F104-79BF-DB9A-BEA577C73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9CF5DB-E77D-3B81-07B7-3730D221A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2E843B-A31A-9E7C-D430-7516ECE4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553348-E2B2-BD8C-505E-19039834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114D29-98A5-0699-436C-65D09A97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01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39CBA-8359-6CDD-D841-2BB39A28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61F8D8-8E12-B2A8-CD00-88BEEEB03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7C619-9339-6FC7-494D-57DB95BB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65CC49-8C4C-EB44-D1EF-604A1CDE6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7EAC17-AF99-BF54-F021-9F9F5E56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95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524141-5419-90C4-EA3D-418BB5220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749755-7AED-7D53-A70A-C492F956D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68090-322B-B547-C978-FB014DA1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96781D-5E93-067C-BF74-AB12892D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DB0522-F0CC-3883-A81B-0A1D390C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01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638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981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70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134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848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621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908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429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4953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749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895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62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329165-2A7B-3C49-DA24-7FB6FC5A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616A3B-8534-CDE6-AC9E-1D3024404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1D841-01DC-7641-FF99-FCE8714B8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69A57-5E11-45EF-82A7-EA58F316535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296685-C197-75E0-F8A8-84C560092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2B3AEF-75BC-6E10-45E7-CBE240BBB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370AD-67D0-4B3C-BF2B-FD321FC7D3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48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98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emf"/><Relationship Id="rId1" Type="http://schemas.openxmlformats.org/officeDocument/2006/relationships/tags" Target="../tags/tag1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13.bin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2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2.bin"/><Relationship Id="rId1" Type="http://schemas.openxmlformats.org/officeDocument/2006/relationships/tags" Target="../tags/tag2.xml"/><Relationship Id="rId6" Type="http://schemas.openxmlformats.org/officeDocument/2006/relationships/image" Target="../media/image15.wmf"/><Relationship Id="rId11" Type="http://schemas.openxmlformats.org/officeDocument/2006/relationships/image" Target="../media/image18.wmf"/><Relationship Id="rId5" Type="http://schemas.openxmlformats.org/officeDocument/2006/relationships/image" Target="../media/image14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22.emf"/><Relationship Id="rId4" Type="http://schemas.openxmlformats.org/officeDocument/2006/relationships/image" Target="../media/image13.wmf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7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9516" y="3020187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第四章 解析函数的幂级数表示法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7193560-03D2-E1B0-A39E-1B0B09CCBF72}"/>
              </a:ext>
            </a:extLst>
          </p:cNvPr>
          <p:cNvSpPr txBox="1"/>
          <p:nvPr/>
        </p:nvSpPr>
        <p:spPr>
          <a:xfrm>
            <a:off x="4001267" y="3927623"/>
            <a:ext cx="3829434" cy="4786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4.1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复级数的基本性质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396332" y="816124"/>
            <a:ext cx="3221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一、复数项级数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700337" y="1387624"/>
            <a:ext cx="27241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grpSp>
        <p:nvGrpSpPr>
          <p:cNvPr id="24" name="Group 36"/>
          <p:cNvGrpSpPr/>
          <p:nvPr/>
        </p:nvGrpSpPr>
        <p:grpSpPr bwMode="auto">
          <a:xfrm>
            <a:off x="1703513" y="1916832"/>
            <a:ext cx="5508625" cy="487363"/>
            <a:chOff x="338" y="1074"/>
            <a:chExt cx="3470" cy="307"/>
          </a:xfrm>
        </p:grpSpPr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338" y="1074"/>
              <a:ext cx="5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</a:t>
              </a:r>
            </a:p>
          </p:txBody>
        </p:sp>
        <p:sp>
          <p:nvSpPr>
            <p:cNvPr id="26" name="Rectangle 7"/>
            <p:cNvSpPr>
              <a:spLocks noChangeArrowheads="1"/>
            </p:cNvSpPr>
            <p:nvPr/>
          </p:nvSpPr>
          <p:spPr bwMode="auto">
            <a:xfrm>
              <a:off x="854" y="1093"/>
              <a:ext cx="29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               为一复数序列，</a:t>
              </a:r>
            </a:p>
          </p:txBody>
        </p:sp>
        <p:graphicFrame>
          <p:nvGraphicFramePr>
            <p:cNvPr id="27" name="Object 9"/>
            <p:cNvGraphicFramePr/>
            <p:nvPr/>
          </p:nvGraphicFramePr>
          <p:xfrm>
            <a:off x="1159" y="1112"/>
            <a:ext cx="85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816100" imgH="558800" progId="Equation.3">
                    <p:embed/>
                  </p:oleObj>
                </mc:Choice>
                <mc:Fallback>
                  <p:oleObj name="公式" r:id="rId3" imgW="1816100" imgH="558800" progId="Equation.3">
                    <p:embed/>
                    <p:pic>
                      <p:nvPicPr>
                        <p:cNvPr id="27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9" y="1112"/>
                          <a:ext cx="856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37"/>
          <p:cNvGrpSpPr/>
          <p:nvPr/>
        </p:nvGrpSpPr>
        <p:grpSpPr bwMode="auto">
          <a:xfrm>
            <a:off x="2519488" y="2564531"/>
            <a:ext cx="5815013" cy="774700"/>
            <a:chOff x="852" y="1482"/>
            <a:chExt cx="3663" cy="488"/>
          </a:xfrm>
        </p:grpSpPr>
        <p:sp>
          <p:nvSpPr>
            <p:cNvPr id="29" name="Rectangle 16"/>
            <p:cNvSpPr>
              <a:spLocks noChangeArrowheads="1"/>
            </p:cNvSpPr>
            <p:nvPr/>
          </p:nvSpPr>
          <p:spPr bwMode="auto">
            <a:xfrm>
              <a:off x="852" y="1591"/>
              <a:ext cx="36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称                                为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复数项级数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</a:t>
              </a:r>
            </a:p>
          </p:txBody>
        </p:sp>
        <p:graphicFrame>
          <p:nvGraphicFramePr>
            <p:cNvPr id="30" name="Object 15"/>
            <p:cNvGraphicFramePr/>
            <p:nvPr/>
          </p:nvGraphicFramePr>
          <p:xfrm>
            <a:off x="1401" y="1482"/>
            <a:ext cx="1463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098800" imgH="1028700" progId="Equation.3">
                    <p:embed/>
                  </p:oleObj>
                </mc:Choice>
                <mc:Fallback>
                  <p:oleObj name="公式" r:id="rId5" imgW="3098800" imgH="1028700" progId="Equation.3">
                    <p:embed/>
                    <p:pic>
                      <p:nvPicPr>
                        <p:cNvPr id="30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1" y="1482"/>
                          <a:ext cx="1463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39"/>
          <p:cNvGrpSpPr/>
          <p:nvPr/>
        </p:nvGrpSpPr>
        <p:grpSpPr bwMode="auto">
          <a:xfrm>
            <a:off x="2517900" y="3467819"/>
            <a:ext cx="7327900" cy="774700"/>
            <a:chOff x="851" y="2051"/>
            <a:chExt cx="4616" cy="488"/>
          </a:xfrm>
        </p:grpSpPr>
        <p:sp>
          <p:nvSpPr>
            <p:cNvPr id="33" name="Rectangle 24"/>
            <p:cNvSpPr>
              <a:spLocks noChangeArrowheads="1"/>
            </p:cNvSpPr>
            <p:nvPr/>
          </p:nvSpPr>
          <p:spPr bwMode="auto">
            <a:xfrm>
              <a:off x="851" y="2160"/>
              <a:ext cx="46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称                                                为级数的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部分和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；</a:t>
              </a:r>
            </a:p>
          </p:txBody>
        </p:sp>
        <p:graphicFrame>
          <p:nvGraphicFramePr>
            <p:cNvPr id="34" name="Object 25"/>
            <p:cNvGraphicFramePr/>
            <p:nvPr/>
          </p:nvGraphicFramePr>
          <p:xfrm>
            <a:off x="1434" y="2051"/>
            <a:ext cx="2175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4610100" imgH="1028700" progId="Equation.3">
                    <p:embed/>
                  </p:oleObj>
                </mc:Choice>
                <mc:Fallback>
                  <p:oleObj name="公式" r:id="rId7" imgW="4610100" imgH="1028700" progId="Equation.3">
                    <p:embed/>
                    <p:pic>
                      <p:nvPicPr>
                        <p:cNvPr id="34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4" y="2051"/>
                          <a:ext cx="2175" cy="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Rectangle 26"/>
          <p:cNvSpPr>
            <a:spLocks noChangeArrowheads="1"/>
          </p:cNvSpPr>
          <p:nvPr/>
        </p:nvSpPr>
        <p:spPr bwMode="auto">
          <a:xfrm>
            <a:off x="2938587" y="5155331"/>
            <a:ext cx="433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并且极限值</a:t>
            </a:r>
            <a:r>
              <a:rPr kumimoji="0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称为级数的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</a:p>
        </p:txBody>
      </p:sp>
      <p:grpSp>
        <p:nvGrpSpPr>
          <p:cNvPr id="36" name="Group 40"/>
          <p:cNvGrpSpPr/>
          <p:nvPr/>
        </p:nvGrpSpPr>
        <p:grpSpPr bwMode="auto">
          <a:xfrm>
            <a:off x="2516313" y="4498106"/>
            <a:ext cx="5103813" cy="552450"/>
            <a:chOff x="850" y="2700"/>
            <a:chExt cx="3215" cy="348"/>
          </a:xfrm>
        </p:grpSpPr>
        <p:sp>
          <p:nvSpPr>
            <p:cNvPr id="37" name="Rectangle 18"/>
            <p:cNvSpPr>
              <a:spLocks noChangeArrowheads="1"/>
            </p:cNvSpPr>
            <p:nvPr/>
          </p:nvSpPr>
          <p:spPr bwMode="auto">
            <a:xfrm>
              <a:off x="850" y="2700"/>
              <a:ext cx="258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如果序列        收敛，即</a:t>
              </a:r>
            </a:p>
          </p:txBody>
        </p:sp>
        <p:graphicFrame>
          <p:nvGraphicFramePr>
            <p:cNvPr id="39" name="Object 27"/>
            <p:cNvGraphicFramePr/>
            <p:nvPr/>
          </p:nvGraphicFramePr>
          <p:xfrm>
            <a:off x="1976" y="2719"/>
            <a:ext cx="3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711200" imgH="508000" progId="Equation.3">
                    <p:embed/>
                  </p:oleObj>
                </mc:Choice>
                <mc:Fallback>
                  <p:oleObj name="公式" r:id="rId9" imgW="711200" imgH="508000" progId="Equation.3">
                    <p:embed/>
                    <p:pic>
                      <p:nvPicPr>
                        <p:cNvPr id="39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" y="2719"/>
                          <a:ext cx="33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28"/>
            <p:cNvGraphicFramePr/>
            <p:nvPr/>
          </p:nvGraphicFramePr>
          <p:xfrm>
            <a:off x="3106" y="2728"/>
            <a:ext cx="95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032000" imgH="673100" progId="Equation.3">
                    <p:embed/>
                  </p:oleObj>
                </mc:Choice>
                <mc:Fallback>
                  <p:oleObj name="公式" r:id="rId11" imgW="2032000" imgH="673100" progId="Equation.3">
                    <p:embed/>
                    <p:pic>
                      <p:nvPicPr>
                        <p:cNvPr id="40" name="Object 2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6" y="2728"/>
                          <a:ext cx="959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Rectangle 29"/>
          <p:cNvSpPr>
            <a:spLocks noChangeArrowheads="1"/>
          </p:cNvSpPr>
          <p:nvPr/>
        </p:nvSpPr>
        <p:spPr bwMode="auto">
          <a:xfrm>
            <a:off x="7713787" y="4469531"/>
            <a:ext cx="259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则称级数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收敛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</a:p>
        </p:txBody>
      </p:sp>
      <p:grpSp>
        <p:nvGrpSpPr>
          <p:cNvPr id="43" name="Group 41"/>
          <p:cNvGrpSpPr/>
          <p:nvPr/>
        </p:nvGrpSpPr>
        <p:grpSpPr bwMode="auto">
          <a:xfrm>
            <a:off x="2514726" y="5830019"/>
            <a:ext cx="6116637" cy="463550"/>
            <a:chOff x="849" y="3539"/>
            <a:chExt cx="3853" cy="292"/>
          </a:xfrm>
        </p:grpSpPr>
        <p:sp>
          <p:nvSpPr>
            <p:cNvPr id="44" name="Rectangle 30"/>
            <p:cNvSpPr>
              <a:spLocks noChangeArrowheads="1"/>
            </p:cNvSpPr>
            <p:nvPr/>
          </p:nvSpPr>
          <p:spPr bwMode="auto">
            <a:xfrm>
              <a:off x="849" y="3539"/>
              <a:ext cx="385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如果序列        不收敛，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则称级数</a:t>
              </a:r>
              <a:r>
                <a:rPr kumimoji="0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发散</a:t>
              </a:r>
              <a:r>
                <a:rPr kumimoji="0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5" name="Object 31"/>
            <p:cNvGraphicFramePr/>
            <p:nvPr/>
          </p:nvGraphicFramePr>
          <p:xfrm>
            <a:off x="1975" y="3558"/>
            <a:ext cx="3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711200" imgH="508000" progId="Equation.3">
                    <p:embed/>
                  </p:oleObj>
                </mc:Choice>
                <mc:Fallback>
                  <p:oleObj name="公式" r:id="rId13" imgW="711200" imgH="508000" progId="Equation.3">
                    <p:embed/>
                    <p:pic>
                      <p:nvPicPr>
                        <p:cNvPr id="45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5" y="3558"/>
                          <a:ext cx="33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Group 38"/>
          <p:cNvGrpSpPr/>
          <p:nvPr/>
        </p:nvGrpSpPr>
        <p:grpSpPr bwMode="auto">
          <a:xfrm>
            <a:off x="7363744" y="1802532"/>
            <a:ext cx="2909889" cy="1019175"/>
            <a:chOff x="3470" y="1349"/>
            <a:chExt cx="1833" cy="642"/>
          </a:xfrm>
        </p:grpSpPr>
        <p:sp>
          <p:nvSpPr>
            <p:cNvPr id="50" name="Rectangle 34"/>
            <p:cNvSpPr>
              <a:spLocks noChangeArrowheads="1"/>
            </p:cNvSpPr>
            <p:nvPr/>
          </p:nvSpPr>
          <p:spPr bwMode="auto">
            <a:xfrm>
              <a:off x="3470" y="1349"/>
              <a:ext cx="1803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在只讨论收敛性问题时可以简记为</a:t>
              </a:r>
            </a:p>
          </p:txBody>
        </p:sp>
        <p:graphicFrame>
          <p:nvGraphicFramePr>
            <p:cNvPr id="51" name="Object 35"/>
            <p:cNvGraphicFramePr/>
            <p:nvPr/>
          </p:nvGraphicFramePr>
          <p:xfrm>
            <a:off x="4863" y="1471"/>
            <a:ext cx="440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927100" imgH="1104900" progId="Equation.3">
                    <p:embed/>
                  </p:oleObj>
                </mc:Choice>
                <mc:Fallback>
                  <p:oleObj name="公式" r:id="rId15" imgW="927100" imgH="1104900" progId="Equation.3">
                    <p:embed/>
                    <p:pic>
                      <p:nvPicPr>
                        <p:cNvPr id="51" name="Object 3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3" y="1471"/>
                          <a:ext cx="440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Rectangle 34"/>
          <p:cNvSpPr>
            <a:spLocks noChangeArrowheads="1"/>
          </p:cNvSpPr>
          <p:nvPr/>
        </p:nvSpPr>
        <p:spPr bwMode="auto">
          <a:xfrm>
            <a:off x="9754917" y="2725316"/>
            <a:ext cx="12187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5" grpId="0"/>
      <p:bldP spid="42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内容占位符 3"/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" name="Object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389" y="1916708"/>
            <a:ext cx="34163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" name="Object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858" y="1700808"/>
            <a:ext cx="2489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" name="Object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585" y="2739562"/>
            <a:ext cx="2768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8" name="Object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05" y="2790362"/>
            <a:ext cx="11176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2" name="Object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473" y="4859691"/>
            <a:ext cx="2616000" cy="8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3" name="Object 1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473" y="5183691"/>
            <a:ext cx="713465" cy="3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7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664954"/>
              </p:ext>
            </p:extLst>
          </p:nvPr>
        </p:nvGraphicFramePr>
        <p:xfrm>
          <a:off x="1454578" y="992894"/>
          <a:ext cx="2141360" cy="856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431640" progId="Equation.DSMT4">
                  <p:embed/>
                </p:oleObj>
              </mc:Choice>
              <mc:Fallback>
                <p:oleObj name="Equation" r:id="rId8" imgW="1079280" imgH="431640" progId="Equation.DSMT4">
                  <p:embed/>
                  <p:pic>
                    <p:nvPicPr>
                      <p:cNvPr id="17" name="Object 40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578" y="992894"/>
                        <a:ext cx="2141360" cy="8565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0"/>
          <p:cNvGraphicFramePr>
            <a:graphicFrameLocks noChangeAspect="1"/>
          </p:cNvGraphicFramePr>
          <p:nvPr/>
        </p:nvGraphicFramePr>
        <p:xfrm>
          <a:off x="1467389" y="3068452"/>
          <a:ext cx="2128549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603200" imgH="5181600" progId="Equation.DSMT4">
                  <p:embed/>
                </p:oleObj>
              </mc:Choice>
              <mc:Fallback>
                <p:oleObj name="Equation" r:id="rId10" imgW="25603200" imgH="5181600" progId="Equation.DSMT4">
                  <p:embed/>
                  <p:pic>
                    <p:nvPicPr>
                      <p:cNvPr id="18" name="Object 4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389" y="3068452"/>
                        <a:ext cx="2128549" cy="43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712880"/>
              </p:ext>
            </p:extLst>
          </p:nvPr>
        </p:nvGraphicFramePr>
        <p:xfrm>
          <a:off x="1452306" y="3870457"/>
          <a:ext cx="37353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66600" imgH="431640" progId="Equation.DSMT4">
                  <p:embed/>
                </p:oleObj>
              </mc:Choice>
              <mc:Fallback>
                <p:oleObj name="Equation" r:id="rId12" imgW="1866600" imgH="431640" progId="Equation.DSMT4">
                  <p:embed/>
                  <p:pic>
                    <p:nvPicPr>
                      <p:cNvPr id="20" name="Object 4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306" y="3870457"/>
                        <a:ext cx="3735388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729110"/>
              </p:ext>
            </p:extLst>
          </p:nvPr>
        </p:nvGraphicFramePr>
        <p:xfrm>
          <a:off x="1467389" y="5939786"/>
          <a:ext cx="3049414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576000" imgH="5181600" progId="Equation.DSMT4">
                  <p:embed/>
                </p:oleObj>
              </mc:Choice>
              <mc:Fallback>
                <p:oleObj name="Equation" r:id="rId14" imgW="36576000" imgH="5181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67389" y="5939786"/>
                        <a:ext cx="3049414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E90A827-BBB9-DF1F-B323-35104FE6F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516718"/>
              </p:ext>
            </p:extLst>
          </p:nvPr>
        </p:nvGraphicFramePr>
        <p:xfrm>
          <a:off x="1467389" y="5080446"/>
          <a:ext cx="1829933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96819" imgH="283062" progId="Equation.DSMT4">
                  <p:embed/>
                </p:oleObj>
              </mc:Choice>
              <mc:Fallback>
                <p:oleObj name="Equation" r:id="rId16" imgW="1196819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67389" y="5080446"/>
                        <a:ext cx="1829933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AAEF4BB-F93E-0565-9476-F74D194F8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639454"/>
              </p:ext>
            </p:extLst>
          </p:nvPr>
        </p:nvGraphicFramePr>
        <p:xfrm>
          <a:off x="5234338" y="3870457"/>
          <a:ext cx="2174720" cy="915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46185" imgH="566597" progId="Equation.DSMT4">
                  <p:embed/>
                </p:oleObj>
              </mc:Choice>
              <mc:Fallback>
                <p:oleObj name="Equation" r:id="rId18" imgW="1346185" imgH="56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34338" y="3870457"/>
                        <a:ext cx="2174720" cy="915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4A6CE-3337-258A-04D5-187C46D1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9C264EA-F110-C0E8-2948-9A52E404D341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B3790B32-74EA-CE89-5937-533F52AE960A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74">
            <a:extLst>
              <a:ext uri="{FF2B5EF4-FFF2-40B4-BE49-F238E27FC236}">
                <a16:creationId xmlns:a16="http://schemas.microsoft.com/office/drawing/2014/main" id="{C04999BC-173B-2975-A528-749DEFDAF833}"/>
              </a:ext>
            </a:extLst>
          </p:cNvPr>
          <p:cNvGrpSpPr/>
          <p:nvPr/>
        </p:nvGrpSpPr>
        <p:grpSpPr bwMode="auto">
          <a:xfrm>
            <a:off x="995055" y="1484784"/>
            <a:ext cx="7056438" cy="827088"/>
            <a:chOff x="338" y="966"/>
            <a:chExt cx="4445" cy="521"/>
          </a:xfrm>
        </p:grpSpPr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CEFDAC41-41EC-AE12-6997-12B1C41F0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" y="1082"/>
              <a:ext cx="69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</a:t>
              </a:r>
            </a:p>
          </p:txBody>
        </p:sp>
        <p:sp>
          <p:nvSpPr>
            <p:cNvPr id="9" name="Rectangle 42">
              <a:extLst>
                <a:ext uri="{FF2B5EF4-FFF2-40B4-BE49-F238E27FC236}">
                  <a16:creationId xmlns:a16="http://schemas.microsoft.com/office/drawing/2014/main" id="{5C61B733-9437-64CC-39BD-8D4E87AFB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1087"/>
              <a:ext cx="39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        </a:t>
              </a:r>
              <a:r>
                <a:rPr kumimoji="0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收敛，则称          </a:t>
              </a:r>
              <a:r>
                <a:rPr kumimoji="0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绝对收敛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Object 44">
              <a:extLst>
                <a:ext uri="{FF2B5EF4-FFF2-40B4-BE49-F238E27FC236}">
                  <a16:creationId xmlns:a16="http://schemas.microsoft.com/office/drawing/2014/main" id="{961E4BB4-729B-4922-DAE0-F05C3CF6B26D}"/>
                </a:ext>
              </a:extLst>
            </p:cNvPr>
            <p:cNvGraphicFramePr/>
            <p:nvPr/>
          </p:nvGraphicFramePr>
          <p:xfrm>
            <a:off x="1413" y="967"/>
            <a:ext cx="528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17600" imgH="1104900" progId="Equation.3">
                    <p:embed/>
                  </p:oleObj>
                </mc:Choice>
                <mc:Fallback>
                  <p:oleObj name="公式" r:id="rId3" imgW="1117600" imgH="1104900" progId="Equation.3">
                    <p:embed/>
                    <p:pic>
                      <p:nvPicPr>
                        <p:cNvPr id="10" name="Object 4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967"/>
                          <a:ext cx="528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45">
              <a:extLst>
                <a:ext uri="{FF2B5EF4-FFF2-40B4-BE49-F238E27FC236}">
                  <a16:creationId xmlns:a16="http://schemas.microsoft.com/office/drawing/2014/main" id="{2ADEF8E9-F65E-39E3-0F1F-66F5E2296420}"/>
                </a:ext>
              </a:extLst>
            </p:cNvPr>
            <p:cNvGraphicFramePr/>
            <p:nvPr/>
          </p:nvGraphicFramePr>
          <p:xfrm>
            <a:off x="2992" y="966"/>
            <a:ext cx="39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25500" imgH="1104900" progId="Equation.3">
                    <p:embed/>
                  </p:oleObj>
                </mc:Choice>
                <mc:Fallback>
                  <p:oleObj name="公式" r:id="rId5" imgW="825500" imgH="1104900" progId="Equation.3">
                    <p:embed/>
                    <p:pic>
                      <p:nvPicPr>
                        <p:cNvPr id="11" name="Object 4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2" y="966"/>
                          <a:ext cx="392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76">
            <a:extLst>
              <a:ext uri="{FF2B5EF4-FFF2-40B4-BE49-F238E27FC236}">
                <a16:creationId xmlns:a16="http://schemas.microsoft.com/office/drawing/2014/main" id="{BAE73206-D848-DFD2-05A1-1B78BBEE7263}"/>
              </a:ext>
            </a:extLst>
          </p:cNvPr>
          <p:cNvGrpSpPr/>
          <p:nvPr/>
        </p:nvGrpSpPr>
        <p:grpSpPr bwMode="auto">
          <a:xfrm>
            <a:off x="558716" y="2838433"/>
            <a:ext cx="10990262" cy="835026"/>
            <a:chOff x="81" y="1865"/>
            <a:chExt cx="6923" cy="526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4690E3D2-A4CF-7234-2A2B-E578AD061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" y="1983"/>
              <a:ext cx="84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4.3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50">
              <a:extLst>
                <a:ext uri="{FF2B5EF4-FFF2-40B4-BE49-F238E27FC236}">
                  <a16:creationId xmlns:a16="http://schemas.microsoft.com/office/drawing/2014/main" id="{4C39F950-3435-8ACD-B687-47BF80466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" y="1980"/>
              <a:ext cx="615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     绝对收敛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          收敛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，则         必收敛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8" name="Object 51">
              <a:extLst>
                <a:ext uri="{FF2B5EF4-FFF2-40B4-BE49-F238E27FC236}">
                  <a16:creationId xmlns:a16="http://schemas.microsoft.com/office/drawing/2014/main" id="{85832D90-E233-4D9D-15C6-1757D05DF754}"/>
                </a:ext>
              </a:extLst>
            </p:cNvPr>
            <p:cNvGraphicFramePr/>
            <p:nvPr/>
          </p:nvGraphicFramePr>
          <p:xfrm>
            <a:off x="2561" y="1865"/>
            <a:ext cx="528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117600" imgH="1104900" progId="Equation.3">
                    <p:embed/>
                  </p:oleObj>
                </mc:Choice>
                <mc:Fallback>
                  <p:oleObj name="公式" r:id="rId7" imgW="1117600" imgH="1104900" progId="Equation.3">
                    <p:embed/>
                    <p:pic>
                      <p:nvPicPr>
                        <p:cNvPr id="28" name="Object 5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1" y="1865"/>
                          <a:ext cx="528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61">
              <a:extLst>
                <a:ext uri="{FF2B5EF4-FFF2-40B4-BE49-F238E27FC236}">
                  <a16:creationId xmlns:a16="http://schemas.microsoft.com/office/drawing/2014/main" id="{DD0EF3CB-8F99-8380-A951-AE4DC54246A9}"/>
                </a:ext>
              </a:extLst>
            </p:cNvPr>
            <p:cNvGraphicFramePr/>
            <p:nvPr/>
          </p:nvGraphicFramePr>
          <p:xfrm>
            <a:off x="4002" y="1871"/>
            <a:ext cx="39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825500" imgH="1104900" progId="Equation.3">
                    <p:embed/>
                  </p:oleObj>
                </mc:Choice>
                <mc:Fallback>
                  <p:oleObj name="公式" r:id="rId9" imgW="825500" imgH="1104900" progId="Equation.3">
                    <p:embed/>
                    <p:pic>
                      <p:nvPicPr>
                        <p:cNvPr id="29" name="Object 6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2" y="1871"/>
                          <a:ext cx="392" cy="5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内容占位符 3">
            <a:extLst>
              <a:ext uri="{FF2B5EF4-FFF2-40B4-BE49-F238E27FC236}">
                <a16:creationId xmlns:a16="http://schemas.microsoft.com/office/drawing/2014/main" id="{8FE58BAA-C387-36F0-8C1F-168A4C8AE334}"/>
              </a:ext>
            </a:extLst>
          </p:cNvPr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Text Box 4">
            <a:extLst>
              <a:ext uri="{FF2B5EF4-FFF2-40B4-BE49-F238E27FC236}">
                <a16:creationId xmlns:a16="http://schemas.microsoft.com/office/drawing/2014/main" id="{A7FF4BB4-D0F3-2C9E-B33A-26383D791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66" y="923729"/>
            <a:ext cx="4248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绝对收敛与条件收敛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58A7D7F-3DF6-1E12-AE8F-B959E8977A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9060" y="2839067"/>
          <a:ext cx="622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21766" imgH="826230" progId="Equation.DSMT4">
                  <p:embed/>
                </p:oleObj>
              </mc:Choice>
              <mc:Fallback>
                <p:oleObj name="Equation" r:id="rId11" imgW="621766" imgH="82623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0E3409F-B435-A397-412D-8C704B4B42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29060" y="2839067"/>
                        <a:ext cx="622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83A0277-5CB0-770E-6A11-318E6D16D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7978" y="3018402"/>
          <a:ext cx="2692898" cy="43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45498" imgH="249983" progId="Equation.DSMT4">
                  <p:embed/>
                </p:oleObj>
              </mc:Choice>
              <mc:Fallback>
                <p:oleObj name="Equation" r:id="rId13" imgW="1545498" imgH="249983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3D605AE-A80A-86A8-79E6-E3883CE86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27978" y="3018402"/>
                        <a:ext cx="2692898" cy="4340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5568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862013" y="800059"/>
            <a:ext cx="5815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二、一致收敛的复变函数项级数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919536" y="1387624"/>
            <a:ext cx="27241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基本概念</a:t>
            </a:r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2117229" y="2119779"/>
            <a:ext cx="94615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</a:t>
            </a:r>
          </a:p>
        </p:txBody>
      </p:sp>
      <p:sp>
        <p:nvSpPr>
          <p:cNvPr id="47" name="Text Box 12"/>
          <p:cNvSpPr txBox="1">
            <a:spLocks noChangeArrowheads="1"/>
          </p:cNvSpPr>
          <p:nvPr/>
        </p:nvSpPr>
        <p:spPr bwMode="auto">
          <a:xfrm>
            <a:off x="2955343" y="2104548"/>
            <a:ext cx="293541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设复变函数项级数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117229" y="2896536"/>
          <a:ext cx="56642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703200" imgH="5486400" progId="Equation.DSMT4">
                  <p:embed/>
                </p:oleObj>
              </mc:Choice>
              <mc:Fallback>
                <p:oleObj name="Equation" r:id="rId3" imgW="63703200" imgH="54864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229" y="2896536"/>
                        <a:ext cx="56642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574559"/>
              </p:ext>
            </p:extLst>
          </p:nvPr>
        </p:nvGraphicFramePr>
        <p:xfrm>
          <a:off x="2117229" y="3683443"/>
          <a:ext cx="7567645" cy="1885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32040" imgH="901440" progId="Equation.DSMT4">
                  <p:embed/>
                </p:oleObj>
              </mc:Choice>
              <mc:Fallback>
                <p:oleObj name="Equation" r:id="rId5" imgW="3632040" imgH="9014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229" y="3683443"/>
                        <a:ext cx="7567645" cy="1885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4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835508" y="832265"/>
            <a:ext cx="5815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二、一致收敛的复变函数项级数</a:t>
            </a:r>
          </a:p>
        </p:txBody>
      </p:sp>
      <p:sp>
        <p:nvSpPr>
          <p:cNvPr id="2" name="矩形 1"/>
          <p:cNvSpPr/>
          <p:nvPr/>
        </p:nvSpPr>
        <p:spPr>
          <a:xfrm>
            <a:off x="939681" y="2216477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一致收敛的定义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028048" y="1501478"/>
          <a:ext cx="56642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703200" imgH="5486400" progId="Equation.DSMT4">
                  <p:embed/>
                </p:oleObj>
              </mc:Choice>
              <mc:Fallback>
                <p:oleObj name="Equation" r:id="rId4" imgW="63703200" imgH="54864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048" y="1501478"/>
                        <a:ext cx="566420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231283"/>
              </p:ext>
            </p:extLst>
          </p:nvPr>
        </p:nvGraphicFramePr>
        <p:xfrm>
          <a:off x="995608" y="2849832"/>
          <a:ext cx="10866985" cy="1949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08560" imgH="939600" progId="Equation.DSMT4">
                  <p:embed/>
                </p:oleObj>
              </mc:Choice>
              <mc:Fallback>
                <p:oleObj name="Equation" r:id="rId6" imgW="5308560" imgH="939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608" y="2849832"/>
                        <a:ext cx="10866985" cy="1949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333604"/>
              </p:ext>
            </p:extLst>
          </p:nvPr>
        </p:nvGraphicFramePr>
        <p:xfrm>
          <a:off x="6789411" y="5067981"/>
          <a:ext cx="306228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442400" imgH="10363200" progId="Equation.DSMT4">
                  <p:embed/>
                </p:oleObj>
              </mc:Choice>
              <mc:Fallback>
                <p:oleObj name="Equation" r:id="rId8" imgW="34442400" imgH="103632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9411" y="5067981"/>
                        <a:ext cx="306228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/>
          <p:cNvSpPr>
            <a:spLocks noRot="1" noChangeArrowheads="1"/>
          </p:cNvSpPr>
          <p:nvPr/>
        </p:nvSpPr>
        <p:spPr bwMode="auto">
          <a:xfrm>
            <a:off x="1054646" y="933731"/>
            <a:ext cx="5041354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一致收敛函数项级数的性质</a:t>
            </a: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1488034" y="1652869"/>
            <a:ext cx="17716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4.6</a:t>
            </a: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1488033" y="3841584"/>
            <a:ext cx="17716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4.7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354581"/>
              </p:ext>
            </p:extLst>
          </p:nvPr>
        </p:nvGraphicFramePr>
        <p:xfrm>
          <a:off x="3458512" y="1522709"/>
          <a:ext cx="6784975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672840" progId="Equation.DSMT4">
                  <p:embed/>
                </p:oleObj>
              </mc:Choice>
              <mc:Fallback>
                <p:oleObj name="Equation" r:id="rId4" imgW="3238200" imgH="6728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8512" y="1522709"/>
                        <a:ext cx="6784975" cy="141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578486"/>
              </p:ext>
            </p:extLst>
          </p:nvPr>
        </p:nvGraphicFramePr>
        <p:xfrm>
          <a:off x="3458512" y="3636803"/>
          <a:ext cx="7324725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14520" imgH="888840" progId="Equation.DSMT4">
                  <p:embed/>
                </p:oleObj>
              </mc:Choice>
              <mc:Fallback>
                <p:oleObj name="Equation" r:id="rId6" imgW="3314520" imgH="8888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8512" y="3636803"/>
                        <a:ext cx="7324725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25172FD7-1AE3-FDFF-FBC1-27CDCAEE0039}"/>
              </a:ext>
            </a:extLst>
          </p:cNvPr>
          <p:cNvSpPr txBox="1"/>
          <p:nvPr/>
        </p:nvSpPr>
        <p:spPr>
          <a:xfrm>
            <a:off x="3316958" y="3055969"/>
            <a:ext cx="2816843" cy="4970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（和函数的连续性）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C54F00-04AB-4DE2-E2CF-8B2339050D12}"/>
              </a:ext>
            </a:extLst>
          </p:cNvPr>
          <p:cNvSpPr txBox="1"/>
          <p:nvPr/>
        </p:nvSpPr>
        <p:spPr>
          <a:xfrm>
            <a:off x="3259672" y="5595778"/>
            <a:ext cx="1900583" cy="4970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（逐项积分）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4"/>
          <p:cNvSpPr>
            <a:spLocks noRot="1" noChangeArrowheads="1"/>
          </p:cNvSpPr>
          <p:nvPr/>
        </p:nvSpPr>
        <p:spPr bwMode="auto">
          <a:xfrm>
            <a:off x="745107" y="833438"/>
            <a:ext cx="290262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内闭一致收敛</a:t>
            </a: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1312012" y="1542756"/>
            <a:ext cx="2016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4.5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012311"/>
              </p:ext>
            </p:extLst>
          </p:nvPr>
        </p:nvGraphicFramePr>
        <p:xfrm>
          <a:off x="3219353" y="1595235"/>
          <a:ext cx="7544723" cy="1916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32040" imgH="914400" progId="Equation.DSMT4">
                  <p:embed/>
                </p:oleObj>
              </mc:Choice>
              <mc:Fallback>
                <p:oleObj name="Equation" r:id="rId4" imgW="3632040" imgH="9144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353" y="1595235"/>
                        <a:ext cx="7544723" cy="1916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80433"/>
              </p:ext>
            </p:extLst>
          </p:nvPr>
        </p:nvGraphicFramePr>
        <p:xfrm>
          <a:off x="1777081" y="3803647"/>
          <a:ext cx="91821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11400" imgH="203040" progId="Equation.DSMT4">
                  <p:embed/>
                </p:oleObj>
              </mc:Choice>
              <mc:Fallback>
                <p:oleObj name="Equation" r:id="rId6" imgW="3911400" imgH="2030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081" y="3803647"/>
                        <a:ext cx="91821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599953"/>
              </p:ext>
            </p:extLst>
          </p:nvPr>
        </p:nvGraphicFramePr>
        <p:xfrm>
          <a:off x="2151063" y="4627563"/>
          <a:ext cx="80105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19440" imgH="431640" progId="Equation.DSMT4">
                  <p:embed/>
                </p:oleObj>
              </mc:Choice>
              <mc:Fallback>
                <p:oleObj name="Equation" r:id="rId8" imgW="3619440" imgH="43164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4627563"/>
                        <a:ext cx="801052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/>
          <p:cNvSpPr txBox="1"/>
          <p:nvPr/>
        </p:nvSpPr>
        <p:spPr>
          <a:xfrm>
            <a:off x="1343025" y="106363"/>
            <a:ext cx="4104903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复级数的基本性质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862013" y="800059"/>
            <a:ext cx="58158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三、解析函数项级数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556770" y="1423046"/>
            <a:ext cx="90048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4.9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魏尔斯特拉斯定理，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和函数的解析性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逐项求导定理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873651"/>
              </p:ext>
            </p:extLst>
          </p:nvPr>
        </p:nvGraphicFramePr>
        <p:xfrm>
          <a:off x="1847528" y="2148290"/>
          <a:ext cx="8902840" cy="1443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41520" imgH="685800" progId="Equation.DSMT4">
                  <p:embed/>
                </p:oleObj>
              </mc:Choice>
              <mc:Fallback>
                <p:oleObj name="Equation" r:id="rId3" imgW="4241520" imgH="6858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148290"/>
                        <a:ext cx="8902840" cy="1443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070312"/>
              </p:ext>
            </p:extLst>
          </p:nvPr>
        </p:nvGraphicFramePr>
        <p:xfrm>
          <a:off x="1847528" y="3718819"/>
          <a:ext cx="5868758" cy="1395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44720" imgH="672840" progId="Equation.DSMT4">
                  <p:embed/>
                </p:oleObj>
              </mc:Choice>
              <mc:Fallback>
                <p:oleObj name="Equation" r:id="rId5" imgW="2844720" imgH="6728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3718819"/>
                        <a:ext cx="5868758" cy="13950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EA9FC44-5376-BE4D-B8F5-2EDD8FD6F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511811"/>
              </p:ext>
            </p:extLst>
          </p:nvPr>
        </p:nvGraphicFramePr>
        <p:xfrm>
          <a:off x="1045369" y="5481359"/>
          <a:ext cx="8680886" cy="925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18775" imgH="566597" progId="Equation.DSMT4">
                  <p:embed/>
                </p:oleObj>
              </mc:Choice>
              <mc:Fallback>
                <p:oleObj name="Equation" r:id="rId7" imgW="5318775" imgH="56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5369" y="5481359"/>
                        <a:ext cx="8680886" cy="925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272</Words>
  <Application>Microsoft Office PowerPoint</Application>
  <PresentationFormat>宽屏</PresentationFormat>
  <Paragraphs>47</Paragraphs>
  <Slides>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等线</vt:lpstr>
      <vt:lpstr>等线 Light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43</cp:revision>
  <dcterms:created xsi:type="dcterms:W3CDTF">2025-07-31T03:20:25Z</dcterms:created>
  <dcterms:modified xsi:type="dcterms:W3CDTF">2025-10-29T02:31:25Z</dcterms:modified>
</cp:coreProperties>
</file>
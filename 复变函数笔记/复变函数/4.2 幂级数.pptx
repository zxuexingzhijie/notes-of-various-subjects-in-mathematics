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524" r:id="rId3"/>
    <p:sldId id="805" r:id="rId4"/>
    <p:sldId id="895" r:id="rId5"/>
    <p:sldId id="811" r:id="rId6"/>
    <p:sldId id="815" r:id="rId7"/>
    <p:sldId id="816" r:id="rId8"/>
    <p:sldId id="817" r:id="rId9"/>
    <p:sldId id="818" r:id="rId10"/>
    <p:sldId id="82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0C404-51C0-4B95-854E-7BE9D4087CF5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06C56-7FB1-4CD3-8462-25973ECDE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87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6181A2-677B-1295-0C7A-6A55375E9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364741-5434-AA69-06D9-F4CA095AC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A36C9-CDEB-6411-AA78-05B1F2A1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AEE8A-252D-5FF9-1682-CB7AE81D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C9A55-924E-46AC-AB4D-77A12810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4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06C09-A913-16B6-19A3-EEA0B435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479C0A-1599-E138-FAFB-351E51B20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568E8-8F0B-9D83-1160-1A70228A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04B29-7C82-C8EA-75FB-E84EC6BB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5EB470-EFAD-21CB-C33B-026B2940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96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BFB6D-F73A-9169-86B6-DE6194EC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EFC6C-FEA1-261B-00D8-AFFF73414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BCFBD-9758-0338-1E0D-A2C38AB8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1CFE63-F5DC-3006-C481-67098A53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F58A1-F1C5-B0D9-EAB9-04C400B5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04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CD6E8-81DB-5EDC-1D81-7CA3439C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84CB6E-FEE0-73FA-0F1D-50D521004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E1F83A-B89A-66FD-2611-44D93E3CB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6F5B54-F765-C253-CC5A-3643C2AF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94CDB-14CD-6C2D-48EA-E6BE452BC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8AE2C-8580-2061-2A6B-CF4F368D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6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91C9D-2348-2F10-AE61-733D6353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B2277-A822-41A8-3A92-F93F69D6C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5B1E18-B3E4-296C-CC32-A720A6F02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02215B-E8EA-5C50-6685-E31537192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F3A524-46AC-3EBB-498A-C18B2986F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E7F606-586F-1D4D-0A42-620DD234A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11FC44-0053-9256-6105-5DAD8C03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6157E8-3EC1-AFD3-18AC-670B6633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35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9B444-A159-4D1A-ACA0-EE7DCCDB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B69EF0-8FC6-AB5F-B713-C746D821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7320B4-D2CE-4002-B4C6-C7339AFB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54DAD7-D4CE-93E8-17FB-E09C40BD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5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8B1F8F-6362-D3B3-2B40-1D07B6D4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CE8640-1EE8-B6C8-E4A8-11B1BC6E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C1126-D602-E3B8-DE0C-7FD30625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81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E757A-837B-FCC7-8665-DB82CBEB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1ED7D4-CB77-691F-D5FE-8C6E54B1B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2D45C4-C5A5-412F-C391-CA5F6AFCA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D8AD05-A04F-8D06-6D14-AC38689B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703418-2721-6551-3DFC-EF4449AF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26ECDE-4443-C5EF-267E-214009C5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54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A43CC-C020-9719-1724-7F3E64B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AD2042-021B-BACF-F398-05AF253E1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ACA541-2B66-38B9-FE79-D1E4854C7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9B8AB6-3EA6-6055-B10C-D55D0840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57A1A-AA86-E651-FAAE-3E20342E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99AEC-F587-37B1-D3A1-41E12B3B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15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F0FB4-3F65-10ED-A7A9-2C8127A7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337B60-833B-8914-0847-751EDCD47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239D51-9B5A-394B-0944-B05BEDDDD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F03AD7-4AE1-EB1E-DAE4-0130298B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9E049-A14F-11A6-E010-36EAC532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8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816C2A-ACA9-E1D1-CF48-03FD6CC3F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A58DC0-870F-83FB-DA5A-0A0D759BB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39F56-AEE2-17D9-CBDD-EED60278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12BFA-AC9D-B74E-1576-666212F3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6D315-FAB1-28A1-0F19-362BF8BC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860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86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518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089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312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203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94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53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961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214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315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385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7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F6EEF9-D5F5-78E7-7F00-25BDDA83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B729C8-2E6D-4515-9412-F955E26B1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FD733-DBBD-77C8-9C3E-9FEC63976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F525D-80DF-44BF-919E-D3D3724C7C6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3D78E7-11A1-6309-1540-79B9255BD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AF09C-0234-3E8C-39DF-1C94AF3D7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A761A-42E9-4E47-8EAB-DFA4CE1B2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13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05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e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6.wmf"/><Relationship Id="rId3" Type="http://schemas.openxmlformats.org/officeDocument/2006/relationships/image" Target="../media/image11.png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tags" Target="../tags/tag3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3.wmf"/><Relationship Id="rId22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7.e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6.emf"/><Relationship Id="rId1" Type="http://schemas.openxmlformats.org/officeDocument/2006/relationships/tags" Target="../tags/tag6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2.emf"/><Relationship Id="rId18" Type="http://schemas.openxmlformats.org/officeDocument/2006/relationships/oleObject" Target="../embeddings/oleObject49.bin"/><Relationship Id="rId3" Type="http://schemas.openxmlformats.org/officeDocument/2006/relationships/image" Target="../media/image47.png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48.bin"/><Relationship Id="rId1" Type="http://schemas.openxmlformats.org/officeDocument/2006/relationships/tags" Target="../tags/tag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55.e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3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2.wmf"/><Relationship Id="rId1" Type="http://schemas.openxmlformats.org/officeDocument/2006/relationships/tags" Target="../tags/tag8.x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9516" y="3020187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第四章 解析函数的幂级数表示法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7193560-03D2-E1B0-A39E-1B0B09CCBF72}"/>
              </a:ext>
            </a:extLst>
          </p:cNvPr>
          <p:cNvSpPr txBox="1"/>
          <p:nvPr/>
        </p:nvSpPr>
        <p:spPr>
          <a:xfrm>
            <a:off x="4001267" y="3927623"/>
            <a:ext cx="3829434" cy="478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4.2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幂级数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86941" y="1346665"/>
            <a:ext cx="28289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幂级数的概念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60"/>
          <p:cNvGrpSpPr/>
          <p:nvPr/>
        </p:nvGrpSpPr>
        <p:grpSpPr bwMode="auto">
          <a:xfrm>
            <a:off x="8035107" y="2627737"/>
            <a:ext cx="3275013" cy="457200"/>
            <a:chOff x="852" y="1986"/>
            <a:chExt cx="2063" cy="288"/>
          </a:xfrm>
        </p:grpSpPr>
        <p:sp>
          <p:nvSpPr>
            <p:cNvPr id="8" name="Rectangle 36"/>
            <p:cNvSpPr>
              <a:spLocks noChangeArrowheads="1"/>
            </p:cNvSpPr>
            <p:nvPr/>
          </p:nvSpPr>
          <p:spPr bwMode="auto">
            <a:xfrm>
              <a:off x="852" y="1986"/>
              <a:ext cx="20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        </a:t>
              </a:r>
              <a:r>
                <a:rPr kumimoji="0" lang="zh-CN" altLang="en-US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为复常数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9" name="Object 7"/>
            <p:cNvGraphicFramePr/>
            <p:nvPr/>
          </p:nvGraphicFramePr>
          <p:xfrm>
            <a:off x="1463" y="2006"/>
            <a:ext cx="4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73100" imgH="381000" progId="Equation.3">
                    <p:embed/>
                  </p:oleObj>
                </mc:Choice>
                <mc:Fallback>
                  <p:oleObj name="公式" r:id="rId3" imgW="673100" imgH="381000" progId="Equation.3">
                    <p:embed/>
                    <p:pic>
                      <p:nvPicPr>
                        <p:cNvPr id="9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2006"/>
                          <a:ext cx="4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58"/>
          <p:cNvGrpSpPr/>
          <p:nvPr/>
        </p:nvGrpSpPr>
        <p:grpSpPr bwMode="auto">
          <a:xfrm>
            <a:off x="1352029" y="1915318"/>
            <a:ext cx="7383463" cy="468313"/>
            <a:chOff x="338" y="1074"/>
            <a:chExt cx="4651" cy="295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8" y="1074"/>
              <a:ext cx="6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852" y="1077"/>
              <a:ext cx="413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称由下式给出的复变函数项级数为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幂级数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59"/>
          <p:cNvGrpSpPr/>
          <p:nvPr/>
        </p:nvGrpSpPr>
        <p:grpSpPr bwMode="auto">
          <a:xfrm>
            <a:off x="1439343" y="2468987"/>
            <a:ext cx="6813550" cy="774700"/>
            <a:chOff x="1276" y="1413"/>
            <a:chExt cx="4292" cy="488"/>
          </a:xfrm>
        </p:grpSpPr>
        <p:graphicFrame>
          <p:nvGraphicFramePr>
            <p:cNvPr id="14" name="Object 6"/>
            <p:cNvGraphicFramePr/>
            <p:nvPr/>
          </p:nvGraphicFramePr>
          <p:xfrm>
            <a:off x="1276" y="1413"/>
            <a:ext cx="363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7683500" imgH="1028700" progId="Equation.3">
                    <p:embed/>
                  </p:oleObj>
                </mc:Choice>
                <mc:Fallback>
                  <p:oleObj name="公式" r:id="rId5" imgW="7683500" imgH="1028700" progId="Equation.3">
                    <p:embed/>
                    <p:pic>
                      <p:nvPicPr>
                        <p:cNvPr id="14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6" y="1413"/>
                          <a:ext cx="3632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40"/>
            <p:cNvSpPr txBox="1">
              <a:spLocks noChangeArrowheads="1"/>
            </p:cNvSpPr>
            <p:nvPr/>
          </p:nvSpPr>
          <p:spPr bwMode="auto">
            <a:xfrm>
              <a:off x="5053" y="1500"/>
              <a:ext cx="5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16" name="Group 61"/>
          <p:cNvGrpSpPr/>
          <p:nvPr/>
        </p:nvGrpSpPr>
        <p:grpSpPr bwMode="auto">
          <a:xfrm>
            <a:off x="1378833" y="3570868"/>
            <a:ext cx="3405188" cy="457200"/>
            <a:chOff x="2814" y="1987"/>
            <a:chExt cx="2145" cy="288"/>
          </a:xfrm>
        </p:grpSpPr>
        <p:sp>
          <p:nvSpPr>
            <p:cNvPr id="17" name="Rectangle 42"/>
            <p:cNvSpPr>
              <a:spLocks noChangeArrowheads="1"/>
            </p:cNvSpPr>
            <p:nvPr/>
          </p:nvSpPr>
          <p:spPr bwMode="auto">
            <a:xfrm>
              <a:off x="2814" y="1987"/>
              <a:ext cx="21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特别地，当         </a:t>
              </a:r>
              <a:r>
                <a:rPr kumimoji="0" lang="zh-CN" altLang="en-US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时有</a:t>
              </a:r>
            </a:p>
          </p:txBody>
        </p:sp>
        <p:graphicFrame>
          <p:nvGraphicFramePr>
            <p:cNvPr id="18" name="Object 5"/>
            <p:cNvGraphicFramePr/>
            <p:nvPr/>
          </p:nvGraphicFramePr>
          <p:xfrm>
            <a:off x="3861" y="2042"/>
            <a:ext cx="41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876300" imgH="368300" progId="Equation.3">
                    <p:embed/>
                  </p:oleObj>
                </mc:Choice>
                <mc:Fallback>
                  <p:oleObj name="公式" r:id="rId7" imgW="876300" imgH="368300" progId="Equation.3">
                    <p:embed/>
                    <p:pic>
                      <p:nvPicPr>
                        <p:cNvPr id="18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1" y="2042"/>
                          <a:ext cx="416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63"/>
          <p:cNvGrpSpPr/>
          <p:nvPr/>
        </p:nvGrpSpPr>
        <p:grpSpPr bwMode="auto">
          <a:xfrm>
            <a:off x="1439343" y="4365104"/>
            <a:ext cx="9264650" cy="523876"/>
            <a:chOff x="338" y="2982"/>
            <a:chExt cx="5836" cy="330"/>
          </a:xfrm>
        </p:grpSpPr>
        <p:sp>
          <p:nvSpPr>
            <p:cNvPr id="21" name="Text Box 38"/>
            <p:cNvSpPr txBox="1">
              <a:spLocks noChangeArrowheads="1"/>
            </p:cNvSpPr>
            <p:nvPr/>
          </p:nvSpPr>
          <p:spPr bwMode="auto">
            <a:xfrm>
              <a:off x="2090" y="2995"/>
              <a:ext cx="7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(Ⅱ)</a:t>
              </a:r>
            </a:p>
          </p:txBody>
        </p:sp>
        <p:sp>
          <p:nvSpPr>
            <p:cNvPr id="22" name="Rectangle 45"/>
            <p:cNvSpPr>
              <a:spLocks noChangeArrowheads="1"/>
            </p:cNvSpPr>
            <p:nvPr/>
          </p:nvSpPr>
          <p:spPr bwMode="auto">
            <a:xfrm>
              <a:off x="338" y="2982"/>
              <a:ext cx="49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</a:t>
              </a:r>
            </a:p>
          </p:txBody>
        </p:sp>
        <p:sp>
          <p:nvSpPr>
            <p:cNvPr id="23" name="Rectangle 46"/>
            <p:cNvSpPr>
              <a:spLocks noChangeArrowheads="1"/>
            </p:cNvSpPr>
            <p:nvPr/>
          </p:nvSpPr>
          <p:spPr bwMode="auto">
            <a:xfrm>
              <a:off x="660" y="3012"/>
              <a:ext cx="55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下面主要是对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型幂级数进行讨论，所得到的结论只需将 </a:t>
              </a:r>
              <a:endPara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62"/>
          <p:cNvGrpSpPr/>
          <p:nvPr/>
        </p:nvGrpSpPr>
        <p:grpSpPr bwMode="auto">
          <a:xfrm>
            <a:off x="4554627" y="3359228"/>
            <a:ext cx="5086350" cy="774700"/>
            <a:chOff x="1271" y="2320"/>
            <a:chExt cx="3204" cy="488"/>
          </a:xfrm>
        </p:grpSpPr>
        <p:graphicFrame>
          <p:nvGraphicFramePr>
            <p:cNvPr id="25" name="Object 4"/>
            <p:cNvGraphicFramePr/>
            <p:nvPr/>
          </p:nvGraphicFramePr>
          <p:xfrm>
            <a:off x="1271" y="2320"/>
            <a:ext cx="235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4978400" imgH="1028700" progId="Equation.3">
                    <p:embed/>
                  </p:oleObj>
                </mc:Choice>
                <mc:Fallback>
                  <p:oleObj name="公式" r:id="rId9" imgW="4978400" imgH="1028700" progId="Equation.3">
                    <p:embed/>
                    <p:pic>
                      <p:nvPicPr>
                        <p:cNvPr id="25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1" y="2320"/>
                          <a:ext cx="2352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48"/>
            <p:cNvSpPr txBox="1">
              <a:spLocks noChangeArrowheads="1"/>
            </p:cNvSpPr>
            <p:nvPr/>
          </p:nvSpPr>
          <p:spPr bwMode="auto">
            <a:xfrm>
              <a:off x="3868" y="2396"/>
              <a:ext cx="6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(Ⅱ)</a:t>
              </a:r>
            </a:p>
          </p:txBody>
        </p:sp>
      </p:grpSp>
      <p:grpSp>
        <p:nvGrpSpPr>
          <p:cNvPr id="27" name="Group 64"/>
          <p:cNvGrpSpPr/>
          <p:nvPr/>
        </p:nvGrpSpPr>
        <p:grpSpPr bwMode="auto">
          <a:xfrm>
            <a:off x="2441848" y="4977553"/>
            <a:ext cx="5259389" cy="490538"/>
            <a:chOff x="1554" y="3324"/>
            <a:chExt cx="3313" cy="309"/>
          </a:xfrm>
        </p:grpSpPr>
        <p:sp>
          <p:nvSpPr>
            <p:cNvPr id="28" name="Rectangle 50"/>
            <p:cNvSpPr>
              <a:spLocks noChangeArrowheads="1"/>
            </p:cNvSpPr>
            <p:nvPr/>
          </p:nvSpPr>
          <p:spPr bwMode="auto">
            <a:xfrm>
              <a:off x="1665" y="3342"/>
              <a:ext cx="32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换成            </a:t>
              </a:r>
              <a:r>
                <a:rPr kumimoji="0" lang="zh-CN" altLang="en-US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即可应用到      型幂级数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47"/>
            <p:cNvSpPr txBox="1">
              <a:spLocks noChangeArrowheads="1"/>
            </p:cNvSpPr>
            <p:nvPr/>
          </p:nvSpPr>
          <p:spPr bwMode="auto">
            <a:xfrm>
              <a:off x="3606" y="3335"/>
              <a:ext cx="6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800" b="1" i="0" u="none" strike="noStrike" kern="0" cap="none" spc="0" normalizeH="0" baseline="30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800" b="1" i="0" u="none" strike="noStrike" kern="0" cap="none" spc="0" normalizeH="0" baseline="30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graphicFrame>
          <p:nvGraphicFramePr>
            <p:cNvPr id="30" name="Object 3"/>
            <p:cNvGraphicFramePr/>
            <p:nvPr/>
          </p:nvGraphicFramePr>
          <p:xfrm>
            <a:off x="2159" y="3392"/>
            <a:ext cx="52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04900" imgH="457200" progId="Equation.3">
                    <p:embed/>
                  </p:oleObj>
                </mc:Choice>
                <mc:Fallback>
                  <p:oleObj name="公式" r:id="rId11" imgW="1104900" imgH="457200" progId="Equation.3">
                    <p:embed/>
                    <p:pic>
                      <p:nvPicPr>
                        <p:cNvPr id="30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9" y="3392"/>
                          <a:ext cx="520" cy="21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53"/>
            <p:cNvSpPr>
              <a:spLocks noChangeArrowheads="1"/>
            </p:cNvSpPr>
            <p:nvPr/>
          </p:nvSpPr>
          <p:spPr bwMode="auto">
            <a:xfrm>
              <a:off x="1554" y="3324"/>
              <a:ext cx="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endPara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65"/>
          <p:cNvGrpSpPr/>
          <p:nvPr/>
        </p:nvGrpSpPr>
        <p:grpSpPr bwMode="auto">
          <a:xfrm>
            <a:off x="1977207" y="5602430"/>
            <a:ext cx="6057900" cy="469901"/>
            <a:chOff x="659" y="3732"/>
            <a:chExt cx="3816" cy="296"/>
          </a:xfrm>
        </p:grpSpPr>
        <p:sp>
          <p:nvSpPr>
            <p:cNvPr id="34" name="Rectangle 54"/>
            <p:cNvSpPr>
              <a:spLocks noChangeArrowheads="1"/>
            </p:cNvSpPr>
            <p:nvPr/>
          </p:nvSpPr>
          <p:spPr bwMode="auto">
            <a:xfrm>
              <a:off x="659" y="3737"/>
              <a:ext cx="38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对于        型幂级数，在         </a:t>
              </a:r>
              <a:r>
                <a:rPr kumimoji="0" lang="zh-CN" altLang="en-US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点肯定收敛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2"/>
            <p:cNvGraphicFramePr/>
            <p:nvPr/>
          </p:nvGraphicFramePr>
          <p:xfrm>
            <a:off x="2958" y="3795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863600" imgH="393700" progId="Equation.3">
                    <p:embed/>
                  </p:oleObj>
                </mc:Choice>
                <mc:Fallback>
                  <p:oleObj name="公式" r:id="rId13" imgW="863600" imgH="393700" progId="Equation.3">
                    <p:embed/>
                    <p:pic>
                      <p:nvPicPr>
                        <p:cNvPr id="35" name="Object 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8" y="3795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57"/>
            <p:cNvSpPr txBox="1">
              <a:spLocks noChangeArrowheads="1"/>
            </p:cNvSpPr>
            <p:nvPr/>
          </p:nvSpPr>
          <p:spPr bwMode="auto">
            <a:xfrm>
              <a:off x="1327" y="3732"/>
              <a:ext cx="7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(Ⅱ)</a:t>
              </a:r>
            </a:p>
          </p:txBody>
        </p:sp>
      </p:grpSp>
      <p:sp>
        <p:nvSpPr>
          <p:cNvPr id="37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954649" y="813202"/>
            <a:ext cx="41660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一、幂级数的敛散性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087" y="1001242"/>
            <a:ext cx="4840644" cy="4462659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775520" y="871538"/>
            <a:ext cx="36131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收敛圆与收敛半径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354847" y="1434690"/>
            <a:ext cx="1038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61"/>
          <p:cNvGrpSpPr/>
          <p:nvPr/>
        </p:nvGrpSpPr>
        <p:grpSpPr bwMode="auto">
          <a:xfrm>
            <a:off x="1097210" y="3120368"/>
            <a:ext cx="2336800" cy="457200"/>
            <a:chOff x="854" y="1465"/>
            <a:chExt cx="1472" cy="288"/>
          </a:xfrm>
        </p:grpSpPr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>
              <a:off x="854" y="1465"/>
              <a:ext cx="12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称圆周</a:t>
              </a:r>
            </a:p>
          </p:txBody>
        </p:sp>
        <p:graphicFrame>
          <p:nvGraphicFramePr>
            <p:cNvPr id="1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4963893"/>
                </p:ext>
              </p:extLst>
            </p:nvPr>
          </p:nvGraphicFramePr>
          <p:xfrm>
            <a:off x="1782" y="1495"/>
            <a:ext cx="54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277600" imgH="4876800" progId="Equation.DSMT4">
                    <p:embed/>
                  </p:oleObj>
                </mc:Choice>
                <mc:Fallback>
                  <p:oleObj name="Equation" r:id="rId4" imgW="11277600" imgH="4876800" progId="Equation.DSMT4">
                    <p:embed/>
                    <p:pic>
                      <p:nvPicPr>
                        <p:cNvPr id="13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1495"/>
                          <a:ext cx="544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3384298" y="3115885"/>
            <a:ext cx="1960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收敛圆周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42"/>
          <p:cNvSpPr>
            <a:spLocks noChangeArrowheads="1"/>
          </p:cNvSpPr>
          <p:nvPr/>
        </p:nvSpPr>
        <p:spPr bwMode="auto">
          <a:xfrm>
            <a:off x="1122610" y="2533509"/>
            <a:ext cx="4391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称</a:t>
            </a:r>
            <a:r>
              <a:rPr kumimoji="1" lang="zh-CN" altLang="en-US" sz="20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0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             的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收敛半径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62"/>
          <p:cNvGrpSpPr/>
          <p:nvPr/>
        </p:nvGrpSpPr>
        <p:grpSpPr bwMode="auto">
          <a:xfrm>
            <a:off x="384423" y="4308125"/>
            <a:ext cx="4540250" cy="466725"/>
            <a:chOff x="337" y="2610"/>
            <a:chExt cx="2860" cy="294"/>
          </a:xfrm>
        </p:grpSpPr>
        <p:sp>
          <p:nvSpPr>
            <p:cNvPr id="17" name="Rectangle 47"/>
            <p:cNvSpPr>
              <a:spLocks noChangeArrowheads="1"/>
            </p:cNvSpPr>
            <p:nvPr/>
          </p:nvSpPr>
          <p:spPr bwMode="auto">
            <a:xfrm>
              <a:off x="337" y="2610"/>
              <a:ext cx="8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852" y="2616"/>
              <a:ext cx="2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级数在收敛圆周上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Rectangle 49"/>
          <p:cNvSpPr>
            <a:spLocks noChangeArrowheads="1"/>
          </p:cNvSpPr>
          <p:nvPr/>
        </p:nvSpPr>
        <p:spPr bwMode="auto">
          <a:xfrm>
            <a:off x="3642767" y="4308125"/>
            <a:ext cx="448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各点的收敛情况是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不一定的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1" name="Group 63"/>
          <p:cNvGrpSpPr/>
          <p:nvPr/>
        </p:nvGrpSpPr>
        <p:grpSpPr bwMode="auto">
          <a:xfrm>
            <a:off x="384423" y="5635303"/>
            <a:ext cx="5616575" cy="481012"/>
            <a:chOff x="336" y="3377"/>
            <a:chExt cx="3538" cy="303"/>
          </a:xfrm>
        </p:grpSpPr>
        <p:sp>
          <p:nvSpPr>
            <p:cNvPr id="22" name="Rectangle 50"/>
            <p:cNvSpPr>
              <a:spLocks noChangeArrowheads="1"/>
            </p:cNvSpPr>
            <p:nvPr/>
          </p:nvSpPr>
          <p:spPr bwMode="auto">
            <a:xfrm>
              <a:off x="336" y="3377"/>
              <a:ext cx="6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约定</a:t>
              </a:r>
            </a:p>
          </p:txBody>
        </p:sp>
        <p:sp>
          <p:nvSpPr>
            <p:cNvPr id="23" name="Rectangle 51"/>
            <p:cNvSpPr>
              <a:spLocks noChangeArrowheads="1"/>
            </p:cNvSpPr>
            <p:nvPr/>
          </p:nvSpPr>
          <p:spPr bwMode="auto">
            <a:xfrm>
              <a:off x="1339" y="3388"/>
              <a:ext cx="253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表示级数仅在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0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点收敛；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Object 3"/>
            <p:cNvGraphicFramePr/>
            <p:nvPr/>
          </p:nvGraphicFramePr>
          <p:xfrm>
            <a:off x="887" y="3452"/>
            <a:ext cx="45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723900" imgH="279400" progId="Equation.3">
                    <p:embed/>
                  </p:oleObj>
                </mc:Choice>
                <mc:Fallback>
                  <p:oleObj name="公式" r:id="rId6" imgW="723900" imgH="279400" progId="Equation.3">
                    <p:embed/>
                    <p:pic>
                      <p:nvPicPr>
                        <p:cNvPr id="24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3452"/>
                          <a:ext cx="456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64"/>
          <p:cNvGrpSpPr/>
          <p:nvPr/>
        </p:nvGrpSpPr>
        <p:grpSpPr bwMode="auto">
          <a:xfrm>
            <a:off x="1212292" y="6228829"/>
            <a:ext cx="5772150" cy="463550"/>
            <a:chOff x="891" y="3723"/>
            <a:chExt cx="3636" cy="292"/>
          </a:xfrm>
        </p:grpSpPr>
        <p:sp>
          <p:nvSpPr>
            <p:cNvPr id="26" name="Rectangle 52"/>
            <p:cNvSpPr>
              <a:spLocks noChangeArrowheads="1"/>
            </p:cNvSpPr>
            <p:nvPr/>
          </p:nvSpPr>
          <p:spPr bwMode="auto">
            <a:xfrm>
              <a:off x="1482" y="3723"/>
              <a:ext cx="304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表示级数在整个复平面上 收敛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7" name="Object 2"/>
            <p:cNvGraphicFramePr/>
            <p:nvPr/>
          </p:nvGraphicFramePr>
          <p:xfrm>
            <a:off x="891" y="3786"/>
            <a:ext cx="61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77265" imgH="266700" progId="Equation.3">
                    <p:embed/>
                  </p:oleObj>
                </mc:Choice>
                <mc:Fallback>
                  <p:oleObj name="公式" r:id="rId8" imgW="977265" imgH="266700" progId="Equation.3">
                    <p:embed/>
                    <p:pic>
                      <p:nvPicPr>
                        <p:cNvPr id="27" name="Object 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1" y="3786"/>
                          <a:ext cx="616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" name="Group 61"/>
          <p:cNvGrpSpPr/>
          <p:nvPr/>
        </p:nvGrpSpPr>
        <p:grpSpPr bwMode="auto">
          <a:xfrm>
            <a:off x="1098798" y="3715762"/>
            <a:ext cx="2419350" cy="457200"/>
            <a:chOff x="854" y="1465"/>
            <a:chExt cx="1524" cy="288"/>
          </a:xfrm>
        </p:grpSpPr>
        <p:sp>
          <p:nvSpPr>
            <p:cNvPr id="30" name="Rectangle 39"/>
            <p:cNvSpPr>
              <a:spLocks noChangeArrowheads="1"/>
            </p:cNvSpPr>
            <p:nvPr/>
          </p:nvSpPr>
          <p:spPr bwMode="auto">
            <a:xfrm>
              <a:off x="854" y="1465"/>
              <a:ext cx="12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称圆域</a:t>
              </a:r>
            </a:p>
          </p:txBody>
        </p:sp>
        <p:graphicFrame>
          <p:nvGraphicFramePr>
            <p:cNvPr id="32" name="Object 4"/>
            <p:cNvGraphicFramePr>
              <a:graphicFrameLocks noChangeAspect="1"/>
            </p:cNvGraphicFramePr>
            <p:nvPr/>
          </p:nvGraphicFramePr>
          <p:xfrm>
            <a:off x="1834" y="1509"/>
            <a:ext cx="54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277600" imgH="4876800" progId="Equation.DSMT4">
                    <p:embed/>
                  </p:oleObj>
                </mc:Choice>
                <mc:Fallback>
                  <p:oleObj name="Equation" r:id="rId10" imgW="11277600" imgH="4876800" progId="Equation.DSMT4">
                    <p:embed/>
                    <p:pic>
                      <p:nvPicPr>
                        <p:cNvPr id="32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4" y="1509"/>
                          <a:ext cx="544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Rectangle 41"/>
          <p:cNvSpPr>
            <a:spLocks noChangeArrowheads="1"/>
          </p:cNvSpPr>
          <p:nvPr/>
        </p:nvSpPr>
        <p:spPr bwMode="auto">
          <a:xfrm>
            <a:off x="3430065" y="3725287"/>
            <a:ext cx="1960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收敛圆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6FD0A20-D49C-4E4D-758B-3187389BB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435453"/>
              </p:ext>
            </p:extLst>
          </p:nvPr>
        </p:nvGraphicFramePr>
        <p:xfrm>
          <a:off x="1228725" y="1465401"/>
          <a:ext cx="6915284" cy="1002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04960" imgH="507960" progId="Equation.DSMT4">
                  <p:embed/>
                </p:oleObj>
              </mc:Choice>
              <mc:Fallback>
                <p:oleObj name="Equation" r:id="rId12" imgW="35049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28725" y="1465401"/>
                        <a:ext cx="6915284" cy="1002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5BD3450-1E49-CE69-33F0-53A5FEF7D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550747"/>
              </p:ext>
            </p:extLst>
          </p:nvPr>
        </p:nvGraphicFramePr>
        <p:xfrm>
          <a:off x="2600948" y="2496203"/>
          <a:ext cx="1006602" cy="50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4847" imgH="333153" progId="Equation.DSMT4">
                  <p:embed/>
                </p:oleObj>
              </mc:Choice>
              <mc:Fallback>
                <p:oleObj name="Equation" r:id="rId14" imgW="664847" imgH="33315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00948" y="2496203"/>
                        <a:ext cx="1006602" cy="504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0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" name="Object 2"/>
          <p:cNvGraphicFramePr/>
          <p:nvPr/>
        </p:nvGraphicFramePr>
        <p:xfrm>
          <a:off x="6649480" y="1606018"/>
          <a:ext cx="25527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03600" imgH="1066800" progId="Equation.3">
                  <p:embed/>
                </p:oleObj>
              </mc:Choice>
              <mc:Fallback>
                <p:oleObj name="公式" r:id="rId3" imgW="3403600" imgH="1066800" progId="Equation.3">
                  <p:embed/>
                  <p:pic>
                    <p:nvPicPr>
                      <p:cNvPr id="36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480" y="1606018"/>
                        <a:ext cx="2552700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4"/>
          <p:cNvGrpSpPr/>
          <p:nvPr/>
        </p:nvGrpSpPr>
        <p:grpSpPr bwMode="auto">
          <a:xfrm>
            <a:off x="949938" y="1773499"/>
            <a:ext cx="5654675" cy="463550"/>
            <a:chOff x="336" y="906"/>
            <a:chExt cx="3562" cy="292"/>
          </a:xfrm>
        </p:grpSpPr>
        <p:graphicFrame>
          <p:nvGraphicFramePr>
            <p:cNvPr id="38" name="Object 13"/>
            <p:cNvGraphicFramePr/>
            <p:nvPr/>
          </p:nvGraphicFramePr>
          <p:xfrm>
            <a:off x="2106" y="907"/>
            <a:ext cx="179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797300" imgH="596900" progId="Equation.3">
                    <p:embed/>
                  </p:oleObj>
                </mc:Choice>
                <mc:Fallback>
                  <p:oleObj name="公式" r:id="rId5" imgW="3797300" imgH="596900" progId="Equation.3">
                    <p:embed/>
                    <p:pic>
                      <p:nvPicPr>
                        <p:cNvPr id="38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6" y="907"/>
                          <a:ext cx="1792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Rectangle 7"/>
            <p:cNvSpPr>
              <a:spLocks noChangeArrowheads="1"/>
            </p:cNvSpPr>
            <p:nvPr/>
          </p:nvSpPr>
          <p:spPr bwMode="auto">
            <a:xfrm>
              <a:off x="660" y="925"/>
              <a:ext cx="188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50000"/>
                </a:spcAft>
                <a:buClr>
                  <a:srgbClr val="A31221"/>
                </a:buClr>
                <a:buSzPct val="75000"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级数的部分和为</a:t>
              </a:r>
            </a:p>
          </p:txBody>
        </p:sp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336" y="906"/>
              <a:ext cx="40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</p:grpSp>
      <p:graphicFrame>
        <p:nvGraphicFramePr>
          <p:cNvPr id="44" name="Object 3"/>
          <p:cNvGraphicFramePr/>
          <p:nvPr>
            <p:extLst>
              <p:ext uri="{D42A27DB-BD31-4B8C-83A1-F6EECF244321}">
                <p14:modId xmlns:p14="http://schemas.microsoft.com/office/powerpoint/2010/main" val="3344646227"/>
              </p:ext>
            </p:extLst>
          </p:nvPr>
        </p:nvGraphicFramePr>
        <p:xfrm>
          <a:off x="3443091" y="2582519"/>
          <a:ext cx="157410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520" imgH="304560" progId="Equation.DSMT4">
                  <p:embed/>
                </p:oleObj>
              </mc:Choice>
              <mc:Fallback>
                <p:oleObj name="Equation" r:id="rId7" imgW="812520" imgH="304560" progId="Equation.DSMT4">
                  <p:embed/>
                  <p:pic>
                    <p:nvPicPr>
                      <p:cNvPr id="4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091" y="2582519"/>
                        <a:ext cx="1574102" cy="611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17"/>
          <p:cNvSpPr>
            <a:spLocks noChangeArrowheads="1"/>
          </p:cNvSpPr>
          <p:nvPr/>
        </p:nvSpPr>
        <p:spPr bwMode="auto">
          <a:xfrm>
            <a:off x="5038179" y="3676047"/>
            <a:ext cx="4190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通项不以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为极限，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级数发散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7510401" y="2596013"/>
            <a:ext cx="169177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级数收敛；</a:t>
            </a:r>
          </a:p>
        </p:txBody>
      </p:sp>
      <p:grpSp>
        <p:nvGrpSpPr>
          <p:cNvPr id="47" name="Group 39"/>
          <p:cNvGrpSpPr/>
          <p:nvPr/>
        </p:nvGrpSpPr>
        <p:grpSpPr bwMode="auto">
          <a:xfrm>
            <a:off x="4079776" y="5537199"/>
            <a:ext cx="4191000" cy="835026"/>
            <a:chOff x="1482" y="3480"/>
            <a:chExt cx="2640" cy="526"/>
          </a:xfrm>
        </p:grpSpPr>
        <p:sp>
          <p:nvSpPr>
            <p:cNvPr id="48" name="Rectangle 30"/>
            <p:cNvSpPr>
              <a:spLocks noChangeArrowheads="1"/>
            </p:cNvSpPr>
            <p:nvPr/>
          </p:nvSpPr>
          <p:spPr bwMode="auto">
            <a:xfrm>
              <a:off x="1482" y="3480"/>
              <a:ext cx="2640" cy="52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9" name="Object 11"/>
            <p:cNvGraphicFramePr/>
            <p:nvPr>
              <p:extLst>
                <p:ext uri="{D42A27DB-BD31-4B8C-83A1-F6EECF244321}">
                  <p14:modId xmlns:p14="http://schemas.microsoft.com/office/powerpoint/2010/main" val="2413027979"/>
                </p:ext>
              </p:extLst>
            </p:nvPr>
          </p:nvGraphicFramePr>
          <p:xfrm>
            <a:off x="1497" y="3484"/>
            <a:ext cx="2625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55520" imgH="419040" progId="Equation.DSMT4">
                    <p:embed/>
                  </p:oleObj>
                </mc:Choice>
                <mc:Fallback>
                  <p:oleObj name="Equation" r:id="rId9" imgW="1955520" imgH="419040" progId="Equation.DSMT4">
                    <p:embed/>
                    <p:pic>
                      <p:nvPicPr>
                        <p:cNvPr id="49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484"/>
                          <a:ext cx="2625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Object 4"/>
          <p:cNvGraphicFramePr/>
          <p:nvPr>
            <p:extLst>
              <p:ext uri="{D42A27DB-BD31-4B8C-83A1-F6EECF244321}">
                <p14:modId xmlns:p14="http://schemas.microsoft.com/office/powerpoint/2010/main" val="2406060467"/>
              </p:ext>
            </p:extLst>
          </p:nvPr>
        </p:nvGraphicFramePr>
        <p:xfrm>
          <a:off x="5074834" y="2455519"/>
          <a:ext cx="24384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438400" imgH="736600" progId="Equation.3">
                  <p:embed/>
                </p:oleObj>
              </mc:Choice>
              <mc:Fallback>
                <p:oleObj name="公式" r:id="rId11" imgW="2438400" imgH="736600" progId="Equation.3">
                  <p:embed/>
                  <p:pic>
                    <p:nvPicPr>
                      <p:cNvPr id="5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4834" y="2455519"/>
                        <a:ext cx="2438400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35"/>
          <p:cNvGrpSpPr/>
          <p:nvPr/>
        </p:nvGrpSpPr>
        <p:grpSpPr bwMode="auto">
          <a:xfrm>
            <a:off x="1328193" y="2587885"/>
            <a:ext cx="2946400" cy="457200"/>
            <a:chOff x="661" y="1432"/>
            <a:chExt cx="1856" cy="288"/>
          </a:xfrm>
        </p:grpSpPr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661" y="1432"/>
              <a:ext cx="18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        时，</a:t>
              </a:r>
            </a:p>
          </p:txBody>
        </p:sp>
        <p:graphicFrame>
          <p:nvGraphicFramePr>
            <p:cNvPr id="53" name="Object 9"/>
            <p:cNvGraphicFramePr/>
            <p:nvPr/>
          </p:nvGraphicFramePr>
          <p:xfrm>
            <a:off x="1223" y="1488"/>
            <a:ext cx="481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761365" imgH="342900" progId="Equation.3">
                    <p:embed/>
                  </p:oleObj>
                </mc:Choice>
                <mc:Fallback>
                  <p:oleObj name="公式" r:id="rId13" imgW="761365" imgH="342900" progId="Equation.3">
                    <p:embed/>
                    <p:pic>
                      <p:nvPicPr>
                        <p:cNvPr id="53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3" y="1488"/>
                          <a:ext cx="481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oup 38"/>
          <p:cNvGrpSpPr/>
          <p:nvPr/>
        </p:nvGrpSpPr>
        <p:grpSpPr bwMode="auto">
          <a:xfrm>
            <a:off x="4875213" y="4487332"/>
            <a:ext cx="2894012" cy="738187"/>
            <a:chOff x="2887" y="2891"/>
            <a:chExt cx="1823" cy="465"/>
          </a:xfrm>
        </p:grpSpPr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2887" y="2970"/>
              <a:ext cx="1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和函数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</a:p>
          </p:txBody>
        </p:sp>
        <p:graphicFrame>
          <p:nvGraphicFramePr>
            <p:cNvPr id="58" name="Object 8"/>
            <p:cNvGraphicFramePr/>
            <p:nvPr/>
          </p:nvGraphicFramePr>
          <p:xfrm>
            <a:off x="3750" y="2891"/>
            <a:ext cx="96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524000" imgH="736600" progId="Equation.3">
                    <p:embed/>
                  </p:oleObj>
                </mc:Choice>
                <mc:Fallback>
                  <p:oleObj name="公式" r:id="rId15" imgW="1524000" imgH="736600" progId="Equation.3">
                    <p:embed/>
                    <p:pic>
                      <p:nvPicPr>
                        <p:cNvPr id="58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0" y="2891"/>
                          <a:ext cx="960" cy="4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Group 36"/>
          <p:cNvGrpSpPr/>
          <p:nvPr/>
        </p:nvGrpSpPr>
        <p:grpSpPr bwMode="auto">
          <a:xfrm>
            <a:off x="1328193" y="3660024"/>
            <a:ext cx="3635374" cy="615950"/>
            <a:chOff x="661" y="2531"/>
            <a:chExt cx="2290" cy="388"/>
          </a:xfrm>
        </p:grpSpPr>
        <p:sp>
          <p:nvSpPr>
            <p:cNvPr id="60" name="Rectangle 20"/>
            <p:cNvSpPr>
              <a:spLocks noChangeArrowheads="1"/>
            </p:cNvSpPr>
            <p:nvPr/>
          </p:nvSpPr>
          <p:spPr bwMode="auto">
            <a:xfrm>
              <a:off x="661" y="2531"/>
              <a:ext cx="18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        时，</a:t>
              </a:r>
            </a:p>
          </p:txBody>
        </p:sp>
        <p:graphicFrame>
          <p:nvGraphicFramePr>
            <p:cNvPr id="61" name="Object 6"/>
            <p:cNvGraphicFramePr/>
            <p:nvPr/>
          </p:nvGraphicFramePr>
          <p:xfrm>
            <a:off x="1222" y="2579"/>
            <a:ext cx="481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761365" imgH="342900" progId="Equation.3">
                    <p:embed/>
                  </p:oleObj>
                </mc:Choice>
                <mc:Fallback>
                  <p:oleObj name="公式" r:id="rId17" imgW="761365" imgH="342900" progId="Equation.3">
                    <p:embed/>
                    <p:pic>
                      <p:nvPicPr>
                        <p:cNvPr id="61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2" y="2579"/>
                          <a:ext cx="481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7"/>
            <p:cNvGraphicFramePr/>
            <p:nvPr>
              <p:extLst>
                <p:ext uri="{D42A27DB-BD31-4B8C-83A1-F6EECF244321}">
                  <p14:modId xmlns:p14="http://schemas.microsoft.com/office/powerpoint/2010/main" val="3808213648"/>
                </p:ext>
              </p:extLst>
            </p:nvPr>
          </p:nvGraphicFramePr>
          <p:xfrm>
            <a:off x="2028" y="2534"/>
            <a:ext cx="923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74360" imgH="304560" progId="Equation.DSMT4">
                    <p:embed/>
                  </p:oleObj>
                </mc:Choice>
                <mc:Fallback>
                  <p:oleObj name="Equation" r:id="rId19" imgW="774360" imgH="304560" progId="Equation.DSMT4">
                    <p:embed/>
                    <p:pic>
                      <p:nvPicPr>
                        <p:cNvPr id="62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8" y="2534"/>
                          <a:ext cx="923" cy="38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37"/>
          <p:cNvGrpSpPr/>
          <p:nvPr/>
        </p:nvGrpSpPr>
        <p:grpSpPr bwMode="auto">
          <a:xfrm>
            <a:off x="1343025" y="4615918"/>
            <a:ext cx="3386138" cy="465138"/>
            <a:chOff x="662" y="2972"/>
            <a:chExt cx="2133" cy="293"/>
          </a:xfrm>
        </p:grpSpPr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662" y="2972"/>
              <a:ext cx="18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故级数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收敛半径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</a:p>
          </p:txBody>
        </p:sp>
        <p:graphicFrame>
          <p:nvGraphicFramePr>
            <p:cNvPr id="65" name="Object 5"/>
            <p:cNvGraphicFramePr/>
            <p:nvPr/>
          </p:nvGraphicFramePr>
          <p:xfrm>
            <a:off x="2283" y="3049"/>
            <a:ext cx="51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079500" imgH="457200" progId="Equation.3">
                    <p:embed/>
                  </p:oleObj>
                </mc:Choice>
                <mc:Fallback>
                  <p:oleObj name="公式" r:id="rId21" imgW="1079500" imgH="457200" progId="Equation.3">
                    <p:embed/>
                    <p:pic>
                      <p:nvPicPr>
                        <p:cNvPr id="65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3" y="3049"/>
                          <a:ext cx="51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911424" y="980915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400800" imgH="4572000" progId="Equation.DSMT4">
                  <p:embed/>
                </p:oleObj>
              </mc:Choice>
              <mc:Fallback>
                <p:oleObj name="Equation" r:id="rId23" imgW="6400800" imgH="457200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980915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566267" y="759881"/>
          <a:ext cx="72390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1381600" imgH="10363200" progId="Equation.DSMT4">
                  <p:embed/>
                </p:oleObj>
              </mc:Choice>
              <mc:Fallback>
                <p:oleObj name="Equation" r:id="rId25" imgW="81381600" imgH="1036320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267" y="759881"/>
                        <a:ext cx="72390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976823"/>
              </p:ext>
            </p:extLst>
          </p:nvPr>
        </p:nvGraphicFramePr>
        <p:xfrm>
          <a:off x="922337" y="1494954"/>
          <a:ext cx="8413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448800" imgH="4267200" progId="Equation.DSMT4">
                  <p:embed/>
                </p:oleObj>
              </mc:Choice>
              <mc:Fallback>
                <p:oleObj name="Equation" r:id="rId3" imgW="9448800" imgH="42672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7" y="1494954"/>
                        <a:ext cx="84137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094475"/>
              </p:ext>
            </p:extLst>
          </p:nvPr>
        </p:nvGraphicFramePr>
        <p:xfrm>
          <a:off x="2071737" y="1261368"/>
          <a:ext cx="58562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5836800" imgH="10363200" progId="Equation.DSMT4">
                  <p:embed/>
                </p:oleObj>
              </mc:Choice>
              <mc:Fallback>
                <p:oleObj name="Equation" r:id="rId5" imgW="65836800" imgH="103632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737" y="1261368"/>
                        <a:ext cx="58562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351075"/>
              </p:ext>
            </p:extLst>
          </p:nvPr>
        </p:nvGraphicFramePr>
        <p:xfrm>
          <a:off x="2085914" y="2608461"/>
          <a:ext cx="92837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28920" imgH="507960" progId="Equation.DSMT4">
                  <p:embed/>
                </p:oleObj>
              </mc:Choice>
              <mc:Fallback>
                <p:oleObj name="Equation" r:id="rId7" imgW="4228920" imgH="50796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14" y="2608461"/>
                        <a:ext cx="92837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365075"/>
              </p:ext>
            </p:extLst>
          </p:nvPr>
        </p:nvGraphicFramePr>
        <p:xfrm>
          <a:off x="979487" y="2658591"/>
          <a:ext cx="868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753600" imgH="4572000" progId="Equation.DSMT4">
                  <p:embed/>
                </p:oleObj>
              </mc:Choice>
              <mc:Fallback>
                <p:oleObj name="Equation" r:id="rId9" imgW="9753600" imgH="45720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7" y="2658591"/>
                        <a:ext cx="8683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2"/>
          <p:cNvGraphicFramePr/>
          <p:nvPr/>
        </p:nvGraphicFramePr>
        <p:xfrm>
          <a:off x="3205337" y="3500988"/>
          <a:ext cx="3897313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194300" imgH="1028700" progId="Equation.3">
                  <p:embed/>
                </p:oleObj>
              </mc:Choice>
              <mc:Fallback>
                <p:oleObj name="公式" r:id="rId3" imgW="5194300" imgH="1028700" progId="Equation.3">
                  <p:embed/>
                  <p:pic>
                    <p:nvPicPr>
                      <p:cNvPr id="5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337" y="3500988"/>
                        <a:ext cx="3897313" cy="773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/>
          <p:nvPr>
            <p:extLst>
              <p:ext uri="{D42A27DB-BD31-4B8C-83A1-F6EECF244321}">
                <p14:modId xmlns:p14="http://schemas.microsoft.com/office/powerpoint/2010/main" val="3836871559"/>
              </p:ext>
            </p:extLst>
          </p:nvPr>
        </p:nvGraphicFramePr>
        <p:xfrm>
          <a:off x="7102650" y="3500988"/>
          <a:ext cx="20939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794000" imgH="1028700" progId="Equation.3">
                  <p:embed/>
                </p:oleObj>
              </mc:Choice>
              <mc:Fallback>
                <p:oleObj name="公式" r:id="rId5" imgW="2794000" imgH="1028700" progId="Equation.3">
                  <p:embed/>
                  <p:pic>
                    <p:nvPicPr>
                      <p:cNvPr id="6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2650" y="3500988"/>
                        <a:ext cx="2093912" cy="774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8"/>
          <p:cNvGrpSpPr/>
          <p:nvPr/>
        </p:nvGrpSpPr>
        <p:grpSpPr bwMode="auto">
          <a:xfrm>
            <a:off x="2711624" y="2896291"/>
            <a:ext cx="2462213" cy="512763"/>
            <a:chOff x="853" y="1620"/>
            <a:chExt cx="1551" cy="323"/>
          </a:xfrm>
        </p:grpSpPr>
        <p:graphicFrame>
          <p:nvGraphicFramePr>
            <p:cNvPr id="9" name="Object 9"/>
            <p:cNvGraphicFramePr/>
            <p:nvPr>
              <p:extLst>
                <p:ext uri="{D42A27DB-BD31-4B8C-83A1-F6EECF244321}">
                  <p14:modId xmlns:p14="http://schemas.microsoft.com/office/powerpoint/2010/main" val="978569329"/>
                </p:ext>
              </p:extLst>
            </p:nvPr>
          </p:nvGraphicFramePr>
          <p:xfrm>
            <a:off x="1164" y="1644"/>
            <a:ext cx="124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77760" imgH="228600" progId="Equation.DSMT4">
                    <p:embed/>
                  </p:oleObj>
                </mc:Choice>
                <mc:Fallback>
                  <p:oleObj name="Equation" r:id="rId7" imgW="977760" imgH="228600" progId="Equation.DSMT4">
                    <p:embed/>
                    <p:pic>
                      <p:nvPicPr>
                        <p:cNvPr id="9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4" y="1644"/>
                          <a:ext cx="1240" cy="2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853" y="1620"/>
              <a:ext cx="4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</a:t>
              </a:r>
            </a:p>
          </p:txBody>
        </p:sp>
      </p:grpSp>
      <p:grpSp>
        <p:nvGrpSpPr>
          <p:cNvPr id="11" name="Group 19"/>
          <p:cNvGrpSpPr/>
          <p:nvPr/>
        </p:nvGrpSpPr>
        <p:grpSpPr bwMode="auto">
          <a:xfrm>
            <a:off x="5262736" y="2915339"/>
            <a:ext cx="2971800" cy="457200"/>
            <a:chOff x="2460" y="1632"/>
            <a:chExt cx="1872" cy="288"/>
          </a:xfrm>
        </p:grpSpPr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2460" y="1632"/>
              <a:ext cx="18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则在            内有</a:t>
              </a:r>
            </a:p>
          </p:txBody>
        </p:sp>
        <p:graphicFrame>
          <p:nvGraphicFramePr>
            <p:cNvPr id="13" name="Object 8"/>
            <p:cNvGraphicFramePr/>
            <p:nvPr>
              <p:extLst>
                <p:ext uri="{D42A27DB-BD31-4B8C-83A1-F6EECF244321}">
                  <p14:modId xmlns:p14="http://schemas.microsoft.com/office/powerpoint/2010/main" val="1522957716"/>
                </p:ext>
              </p:extLst>
            </p:nvPr>
          </p:nvGraphicFramePr>
          <p:xfrm>
            <a:off x="2959" y="1681"/>
            <a:ext cx="49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54100" imgH="457200" progId="Equation.3">
                    <p:embed/>
                  </p:oleObj>
                </mc:Choice>
                <mc:Fallback>
                  <p:oleObj name="公式" r:id="rId9" imgW="1054100" imgH="457200" progId="Equation.3">
                    <p:embed/>
                    <p:pic>
                      <p:nvPicPr>
                        <p:cNvPr id="13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681"/>
                          <a:ext cx="49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045368" y="866081"/>
            <a:ext cx="48450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幂级数的和函数的解析性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1153320" y="1458256"/>
            <a:ext cx="34115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幂级数的运算性质</a:t>
            </a: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843088" y="2049463"/>
          <a:ext cx="7048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924800" imgH="4572000" progId="Equation.DSMT4">
                  <p:embed/>
                </p:oleObj>
              </mc:Choice>
              <mc:Fallback>
                <p:oleObj name="Equation" r:id="rId11" imgW="7924800" imgH="45720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2049463"/>
                        <a:ext cx="7048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83511"/>
              </p:ext>
            </p:extLst>
          </p:nvPr>
        </p:nvGraphicFramePr>
        <p:xfrm>
          <a:off x="2657587" y="1856816"/>
          <a:ext cx="6911715" cy="904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76360" imgH="431640" progId="Equation.DSMT4">
                  <p:embed/>
                </p:oleObj>
              </mc:Choice>
              <mc:Fallback>
                <p:oleObj name="Equation" r:id="rId13" imgW="3276360" imgH="431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587" y="1856816"/>
                        <a:ext cx="6911715" cy="904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1343472" y="1412776"/>
            <a:ext cx="36353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幂级数的分析性质</a:t>
            </a:r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7943591" y="3655721"/>
          <a:ext cx="3331985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404800" imgH="10363200" progId="Equation.DSMT4">
                  <p:embed/>
                </p:oleObj>
              </mc:Choice>
              <mc:Fallback>
                <p:oleObj name="Equation" r:id="rId3" imgW="38404800" imgH="10363200" progId="Equation.DSMT4">
                  <p:embed/>
                  <p:pic>
                    <p:nvPicPr>
                      <p:cNvPr id="2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591" y="3655721"/>
                        <a:ext cx="3331985" cy="9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1343472" y="4858410"/>
            <a:ext cx="470376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在收敛圆内可以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逐项积分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7" name="Group 28"/>
          <p:cNvGrpSpPr/>
          <p:nvPr/>
        </p:nvGrpSpPr>
        <p:grpSpPr bwMode="auto">
          <a:xfrm>
            <a:off x="1345060" y="2979494"/>
            <a:ext cx="6594475" cy="482600"/>
            <a:chOff x="852" y="1644"/>
            <a:chExt cx="4154" cy="304"/>
          </a:xfrm>
        </p:grpSpPr>
        <p:graphicFrame>
          <p:nvGraphicFramePr>
            <p:cNvPr id="28" name="Object 6"/>
            <p:cNvGraphicFramePr/>
            <p:nvPr/>
          </p:nvGraphicFramePr>
          <p:xfrm>
            <a:off x="1593" y="1692"/>
            <a:ext cx="3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28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1692"/>
                          <a:ext cx="39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852" y="1656"/>
              <a:ext cx="11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</a:t>
              </a:r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1960" y="1644"/>
              <a:ext cx="304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在收敛圆                    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2" name="Object 7"/>
            <p:cNvGraphicFramePr/>
            <p:nvPr/>
          </p:nvGraphicFramePr>
          <p:xfrm>
            <a:off x="2820" y="1675"/>
            <a:ext cx="8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409065" imgH="381000" progId="Equation.3">
                    <p:embed/>
                  </p:oleObj>
                </mc:Choice>
                <mc:Fallback>
                  <p:oleObj name="公式" r:id="rId7" imgW="1409065" imgH="381000" progId="Equation.3">
                    <p:embed/>
                    <p:pic>
                      <p:nvPicPr>
                        <p:cNvPr id="32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1675"/>
                          <a:ext cx="88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27"/>
          <p:cNvGrpSpPr/>
          <p:nvPr/>
        </p:nvGrpSpPr>
        <p:grpSpPr bwMode="auto">
          <a:xfrm>
            <a:off x="1343472" y="2015887"/>
            <a:ext cx="8640763" cy="896938"/>
            <a:chOff x="336" y="1037"/>
            <a:chExt cx="5443" cy="565"/>
          </a:xfrm>
        </p:grpSpPr>
        <p:sp>
          <p:nvSpPr>
            <p:cNvPr id="34" name="Rectangle 4"/>
            <p:cNvSpPr>
              <a:spLocks noChangeArrowheads="1"/>
            </p:cNvSpPr>
            <p:nvPr/>
          </p:nvSpPr>
          <p:spPr bwMode="auto">
            <a:xfrm>
              <a:off x="852" y="1148"/>
              <a:ext cx="73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336" y="1140"/>
              <a:ext cx="68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性质</a:t>
              </a:r>
            </a:p>
          </p:txBody>
        </p:sp>
        <p:graphicFrame>
          <p:nvGraphicFramePr>
            <p:cNvPr id="3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46905"/>
                </p:ext>
              </p:extLst>
            </p:nvPr>
          </p:nvGraphicFramePr>
          <p:xfrm>
            <a:off x="1078" y="1037"/>
            <a:ext cx="2857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97080" imgH="431640" progId="Equation.DSMT4">
                    <p:embed/>
                  </p:oleObj>
                </mc:Choice>
                <mc:Fallback>
                  <p:oleObj name="Equation" r:id="rId9" imgW="2197080" imgH="431640" progId="Equation.DSMT4">
                    <p:embed/>
                    <p:pic>
                      <p:nvPicPr>
                        <p:cNvPr id="36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8" y="1037"/>
                          <a:ext cx="2857" cy="56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21"/>
            <p:cNvSpPr txBox="1">
              <a:spLocks noChangeArrowheads="1"/>
            </p:cNvSpPr>
            <p:nvPr/>
          </p:nvSpPr>
          <p:spPr bwMode="auto">
            <a:xfrm>
              <a:off x="3919" y="1146"/>
              <a:ext cx="18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则在收敛半径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</a:t>
              </a:r>
            </a:p>
          </p:txBody>
        </p:sp>
      </p:grpSp>
      <p:grpSp>
        <p:nvGrpSpPr>
          <p:cNvPr id="38" name="Group 29"/>
          <p:cNvGrpSpPr/>
          <p:nvPr/>
        </p:nvGrpSpPr>
        <p:grpSpPr bwMode="auto">
          <a:xfrm>
            <a:off x="1343472" y="3873946"/>
            <a:ext cx="7110412" cy="463550"/>
            <a:chOff x="851" y="2022"/>
            <a:chExt cx="4479" cy="292"/>
          </a:xfrm>
        </p:grpSpPr>
        <p:sp>
          <p:nvSpPr>
            <p:cNvPr id="39" name="Rectangle 13"/>
            <p:cNvSpPr>
              <a:spLocks noChangeArrowheads="1"/>
            </p:cNvSpPr>
            <p:nvPr/>
          </p:nvSpPr>
          <p:spPr bwMode="auto">
            <a:xfrm>
              <a:off x="851" y="2022"/>
              <a:ext cx="44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的导数可由其幂函数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逐项求导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得到，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Object 4"/>
            <p:cNvGraphicFramePr/>
            <p:nvPr/>
          </p:nvGraphicFramePr>
          <p:xfrm>
            <a:off x="1579" y="2063"/>
            <a:ext cx="3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35000" imgH="342900" progId="Equation.3">
                    <p:embed/>
                  </p:oleObj>
                </mc:Choice>
                <mc:Fallback>
                  <p:oleObj name="公式" r:id="rId11" imgW="635000" imgH="342900" progId="Equation.3">
                    <p:embed/>
                    <p:pic>
                      <p:nvPicPr>
                        <p:cNvPr id="4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9" y="2063"/>
                          <a:ext cx="39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5546725" y="4668838"/>
          <a:ext cx="53117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9740800" imgH="10363200" progId="Equation.DSMT4">
                  <p:embed/>
                </p:oleObj>
              </mc:Choice>
              <mc:Fallback>
                <p:oleObj name="Equation" r:id="rId13" imgW="59740800" imgH="10363200" progId="Equation.DSMT4">
                  <p:embed/>
                  <p:pic>
                    <p:nvPicPr>
                      <p:cNvPr id="43" name="对象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4668838"/>
                        <a:ext cx="53117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1045368" y="866081"/>
            <a:ext cx="4217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幂级数和的解析性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8C98D3C-D424-D60E-6110-D52F46E53E68}"/>
              </a:ext>
            </a:extLst>
          </p:cNvPr>
          <p:cNvCxnSpPr>
            <a:cxnSpLocks/>
          </p:cNvCxnSpPr>
          <p:nvPr/>
        </p:nvCxnSpPr>
        <p:spPr>
          <a:xfrm>
            <a:off x="6585098" y="5476636"/>
            <a:ext cx="141322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CD6B8CF-9CF1-1488-C3FD-F8D4AE5C0D69}"/>
              </a:ext>
            </a:extLst>
          </p:cNvPr>
          <p:cNvSpPr txBox="1"/>
          <p:nvPr/>
        </p:nvSpPr>
        <p:spPr>
          <a:xfrm>
            <a:off x="6195237" y="5456986"/>
            <a:ext cx="4149725" cy="65946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1600" b="1" kern="1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解析函数的分时只考虑起点和终点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00CDA00-C273-148B-0B7D-0D584A173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771859"/>
              </p:ext>
            </p:extLst>
          </p:nvPr>
        </p:nvGraphicFramePr>
        <p:xfrm>
          <a:off x="1942329" y="6057687"/>
          <a:ext cx="7830658" cy="463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770311" imgH="283062" progId="Equation.DSMT4">
                  <p:embed/>
                </p:oleObj>
              </mc:Choice>
              <mc:Fallback>
                <p:oleObj name="Equation" r:id="rId15" imgW="4770311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42329" y="6057687"/>
                        <a:ext cx="7830658" cy="46384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31206" y="1463049"/>
            <a:ext cx="44323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幂级数的代换</a:t>
            </a:r>
            <a:r>
              <a: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复合</a:t>
            </a:r>
            <a:r>
              <a: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性质</a:t>
            </a: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1991544" y="4725144"/>
            <a:ext cx="86121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在把函数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展开成幂级数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时，上述三类性质有着重要的作用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45"/>
          <p:cNvGrpSpPr/>
          <p:nvPr/>
        </p:nvGrpSpPr>
        <p:grpSpPr bwMode="auto">
          <a:xfrm>
            <a:off x="2812281" y="3043982"/>
            <a:ext cx="6805613" cy="457200"/>
            <a:chOff x="852" y="1635"/>
            <a:chExt cx="4287" cy="288"/>
          </a:xfrm>
        </p:grpSpPr>
        <p:sp>
          <p:nvSpPr>
            <p:cNvPr id="8" name="Rectangle 29"/>
            <p:cNvSpPr>
              <a:spLocks noChangeArrowheads="1"/>
            </p:cNvSpPr>
            <p:nvPr/>
          </p:nvSpPr>
          <p:spPr bwMode="auto">
            <a:xfrm>
              <a:off x="852" y="1635"/>
              <a:ext cx="3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又设函数         在           </a:t>
              </a:r>
              <a:r>
                <a:rPr kumimoji="0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内解析，且满足</a:t>
              </a:r>
            </a:p>
          </p:txBody>
        </p:sp>
        <p:graphicFrame>
          <p:nvGraphicFramePr>
            <p:cNvPr id="9" name="Object 7"/>
            <p:cNvGraphicFramePr/>
            <p:nvPr/>
          </p:nvGraphicFramePr>
          <p:xfrm>
            <a:off x="1727" y="1669"/>
            <a:ext cx="36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774700" imgH="457200" progId="Equation.3">
                    <p:embed/>
                  </p:oleObj>
                </mc:Choice>
                <mc:Fallback>
                  <p:oleObj name="公式" r:id="rId4" imgW="774700" imgH="457200" progId="Equation.3">
                    <p:embed/>
                    <p:pic>
                      <p:nvPicPr>
                        <p:cNvPr id="9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7" y="1669"/>
                          <a:ext cx="36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/>
            <p:cNvGraphicFramePr/>
            <p:nvPr/>
          </p:nvGraphicFramePr>
          <p:xfrm>
            <a:off x="2365" y="1682"/>
            <a:ext cx="496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54100" imgH="457200" progId="Equation.3">
                    <p:embed/>
                  </p:oleObj>
                </mc:Choice>
                <mc:Fallback>
                  <p:oleObj name="公式" r:id="rId6" imgW="1054100" imgH="457200" progId="Equation.3">
                    <p:embed/>
                    <p:pic>
                      <p:nvPicPr>
                        <p:cNvPr id="10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5" y="1682"/>
                          <a:ext cx="496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/>
            <p:cNvGraphicFramePr/>
            <p:nvPr/>
          </p:nvGraphicFramePr>
          <p:xfrm>
            <a:off x="4275" y="1675"/>
            <a:ext cx="86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828800" imgH="457200" progId="Equation.3">
                    <p:embed/>
                  </p:oleObj>
                </mc:Choice>
                <mc:Fallback>
                  <p:oleObj name="公式" r:id="rId8" imgW="1828800" imgH="457200" progId="Equation.3">
                    <p:embed/>
                    <p:pic>
                      <p:nvPicPr>
                        <p:cNvPr id="11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1675"/>
                          <a:ext cx="864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4"/>
          <p:cNvGrpSpPr/>
          <p:nvPr/>
        </p:nvGrpSpPr>
        <p:grpSpPr bwMode="auto">
          <a:xfrm>
            <a:off x="1993131" y="2123232"/>
            <a:ext cx="8353425" cy="781050"/>
            <a:chOff x="336" y="1055"/>
            <a:chExt cx="5262" cy="492"/>
          </a:xfrm>
        </p:grpSpPr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852" y="1154"/>
              <a:ext cx="385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设级数            </a:t>
              </a:r>
              <a:r>
                <a:rPr kumimoji="1" lang="zh-CN" altLang="en-US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 内收敛，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和函数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36" y="1134"/>
              <a:ext cx="81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性质</a:t>
              </a:r>
            </a:p>
          </p:txBody>
        </p:sp>
        <p:graphicFrame>
          <p:nvGraphicFramePr>
            <p:cNvPr id="15" name="Object 4"/>
            <p:cNvGraphicFramePr/>
            <p:nvPr/>
          </p:nvGraphicFramePr>
          <p:xfrm>
            <a:off x="1512" y="1055"/>
            <a:ext cx="560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82700" imgH="1028700" progId="Equation.3">
                    <p:embed/>
                  </p:oleObj>
                </mc:Choice>
                <mc:Fallback>
                  <p:oleObj name="公式" r:id="rId10" imgW="1282700" imgH="1028700" progId="Equation.3">
                    <p:embed/>
                    <p:pic>
                      <p:nvPicPr>
                        <p:cNvPr id="15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1055"/>
                          <a:ext cx="560" cy="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/>
            <p:nvPr/>
          </p:nvGraphicFramePr>
          <p:xfrm>
            <a:off x="2335" y="1213"/>
            <a:ext cx="47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155700" imgH="457200" progId="Equation.3">
                    <p:embed/>
                  </p:oleObj>
                </mc:Choice>
                <mc:Fallback>
                  <p:oleObj name="公式" r:id="rId12" imgW="1155700" imgH="457200" progId="Equation.3">
                    <p:embed/>
                    <p:pic>
                      <p:nvPicPr>
                        <p:cNvPr id="16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" y="1213"/>
                          <a:ext cx="47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6"/>
            <p:cNvGraphicFramePr/>
            <p:nvPr/>
          </p:nvGraphicFramePr>
          <p:xfrm>
            <a:off x="4426" y="1060"/>
            <a:ext cx="1172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603500" imgH="1028700" progId="Equation.3">
                    <p:embed/>
                  </p:oleObj>
                </mc:Choice>
                <mc:Fallback>
                  <p:oleObj name="公式" r:id="rId14" imgW="2603500" imgH="1028700" progId="Equation.3">
                    <p:embed/>
                    <p:pic>
                      <p:nvPicPr>
                        <p:cNvPr id="17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6" y="1060"/>
                          <a:ext cx="1172" cy="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46"/>
          <p:cNvGrpSpPr/>
          <p:nvPr/>
        </p:nvGrpSpPr>
        <p:grpSpPr bwMode="auto">
          <a:xfrm>
            <a:off x="2812281" y="3586920"/>
            <a:ext cx="6740525" cy="863604"/>
            <a:chOff x="852" y="1977"/>
            <a:chExt cx="4246" cy="544"/>
          </a:xfrm>
        </p:grpSpPr>
        <p:graphicFrame>
          <p:nvGraphicFramePr>
            <p:cNvPr id="20" name="Object 2"/>
            <p:cNvGraphicFramePr>
              <a:graphicFrameLocks noChangeAspect="1"/>
            </p:cNvGraphicFramePr>
            <p:nvPr/>
          </p:nvGraphicFramePr>
          <p:xfrm>
            <a:off x="2244" y="1977"/>
            <a:ext cx="1989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7795200" imgH="10363200" progId="Equation.DSMT4">
                    <p:embed/>
                  </p:oleObj>
                </mc:Choice>
                <mc:Fallback>
                  <p:oleObj name="Equation" r:id="rId16" imgW="37795200" imgH="10363200" progId="Equation.DSMT4">
                    <p:embed/>
                    <p:pic>
                      <p:nvPicPr>
                        <p:cNvPr id="20" name="Object 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4" y="1977"/>
                          <a:ext cx="1989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40"/>
            <p:cNvSpPr>
              <a:spLocks noChangeArrowheads="1"/>
            </p:cNvSpPr>
            <p:nvPr/>
          </p:nvSpPr>
          <p:spPr bwMode="auto">
            <a:xfrm>
              <a:off x="852" y="2095"/>
              <a:ext cx="4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         时，有                                         收敛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Object 3"/>
            <p:cNvGraphicFramePr/>
            <p:nvPr/>
          </p:nvGraphicFramePr>
          <p:xfrm>
            <a:off x="1134" y="2131"/>
            <a:ext cx="496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054100" imgH="457200" progId="Equation.3">
                    <p:embed/>
                  </p:oleObj>
                </mc:Choice>
                <mc:Fallback>
                  <p:oleObj name="公式" r:id="rId18" imgW="1054100" imgH="457200" progId="Equation.3">
                    <p:embed/>
                    <p:pic>
                      <p:nvPicPr>
                        <p:cNvPr id="22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4" y="2131"/>
                          <a:ext cx="496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045368" y="866081"/>
            <a:ext cx="4217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幂级数和的解析性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2"/>
          <p:cNvGraphicFramePr/>
          <p:nvPr/>
        </p:nvGraphicFramePr>
        <p:xfrm>
          <a:off x="2870788" y="3484389"/>
          <a:ext cx="66881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692900" imgH="863600" progId="Equation.3">
                  <p:embed/>
                </p:oleObj>
              </mc:Choice>
              <mc:Fallback>
                <p:oleObj name="公式" r:id="rId3" imgW="6692900" imgH="863600" progId="Equation.3">
                  <p:embed/>
                  <p:pic>
                    <p:nvPicPr>
                      <p:cNvPr id="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788" y="3484389"/>
                        <a:ext cx="6688137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/>
          <p:nvPr/>
        </p:nvGraphicFramePr>
        <p:xfrm>
          <a:off x="5247275" y="2209626"/>
          <a:ext cx="261461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16200" imgH="1104900" progId="Equation.3">
                  <p:embed/>
                </p:oleObj>
              </mc:Choice>
              <mc:Fallback>
                <p:oleObj name="公式" r:id="rId5" imgW="2616200" imgH="1104900" progId="Equation.3">
                  <p:embed/>
                  <p:pic>
                    <p:nvPicPr>
                      <p:cNvPr id="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7275" y="2209626"/>
                        <a:ext cx="2614613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3"/>
          <p:cNvGrpSpPr/>
          <p:nvPr/>
        </p:nvGrpSpPr>
        <p:grpSpPr bwMode="auto">
          <a:xfrm>
            <a:off x="1489663" y="2204864"/>
            <a:ext cx="3665537" cy="787400"/>
            <a:chOff x="337" y="1335"/>
            <a:chExt cx="2309" cy="496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37" y="1408"/>
              <a:ext cx="5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graphicFrame>
          <p:nvGraphicFramePr>
            <p:cNvPr id="9" name="Object 7"/>
            <p:cNvGraphicFramePr/>
            <p:nvPr/>
          </p:nvGraphicFramePr>
          <p:xfrm>
            <a:off x="711" y="1335"/>
            <a:ext cx="1935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073400" imgH="787400" progId="Equation.3">
                    <p:embed/>
                  </p:oleObj>
                </mc:Choice>
                <mc:Fallback>
                  <p:oleObj name="公式" r:id="rId7" imgW="3073400" imgH="787400" progId="Equation.3">
                    <p:embed/>
                    <p:pic>
                      <p:nvPicPr>
                        <p:cNvPr id="9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" y="1335"/>
                          <a:ext cx="1935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6"/>
          <p:cNvGrpSpPr/>
          <p:nvPr/>
        </p:nvGrpSpPr>
        <p:grpSpPr bwMode="auto">
          <a:xfrm>
            <a:off x="2002424" y="4655965"/>
            <a:ext cx="6935788" cy="458787"/>
            <a:chOff x="660" y="2879"/>
            <a:chExt cx="4369" cy="289"/>
          </a:xfrm>
        </p:grpSpPr>
        <p:grpSp>
          <p:nvGrpSpPr>
            <p:cNvPr id="11" name="Group 24"/>
            <p:cNvGrpSpPr/>
            <p:nvPr/>
          </p:nvGrpSpPr>
          <p:grpSpPr bwMode="auto">
            <a:xfrm>
              <a:off x="660" y="2880"/>
              <a:ext cx="2184" cy="288"/>
              <a:chOff x="660" y="2880"/>
              <a:chExt cx="2184" cy="288"/>
            </a:xfrm>
          </p:grpSpPr>
          <p:sp>
            <p:nvSpPr>
              <p:cNvPr id="15" name="Rectangle 18"/>
              <p:cNvSpPr>
                <a:spLocks noChangeArrowheads="1"/>
              </p:cNvSpPr>
              <p:nvPr/>
            </p:nvSpPr>
            <p:spPr bwMode="auto">
              <a:xfrm>
                <a:off x="660" y="2880"/>
                <a:ext cx="16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其收敛半径为</a:t>
                </a:r>
              </a:p>
            </p:txBody>
          </p:sp>
          <p:graphicFrame>
            <p:nvGraphicFramePr>
              <p:cNvPr id="16" name="Object 6"/>
              <p:cNvGraphicFramePr/>
              <p:nvPr/>
            </p:nvGraphicFramePr>
            <p:xfrm>
              <a:off x="1925" y="2950"/>
              <a:ext cx="919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1459865" imgH="342900" progId="Equation.3">
                      <p:embed/>
                    </p:oleObj>
                  </mc:Choice>
                  <mc:Fallback>
                    <p:oleObj name="公式" r:id="rId9" imgW="1459865" imgH="342900" progId="Equation.3">
                      <p:embed/>
                      <p:pic>
                        <p:nvPicPr>
                          <p:cNvPr id="16" name="Object 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5" y="2950"/>
                            <a:ext cx="919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" name="Group 25"/>
            <p:cNvGrpSpPr/>
            <p:nvPr/>
          </p:nvGrpSpPr>
          <p:grpSpPr bwMode="auto">
            <a:xfrm>
              <a:off x="2975" y="2879"/>
              <a:ext cx="2054" cy="288"/>
              <a:chOff x="2975" y="2879"/>
              <a:chExt cx="2054" cy="288"/>
            </a:xfrm>
          </p:grpSpPr>
          <p:sp>
            <p:nvSpPr>
              <p:cNvPr id="13" name="Rectangle 20"/>
              <p:cNvSpPr>
                <a:spLocks noChangeArrowheads="1"/>
              </p:cNvSpPr>
              <p:nvPr/>
            </p:nvSpPr>
            <p:spPr bwMode="auto">
              <a:xfrm>
                <a:off x="2975" y="2879"/>
                <a:ext cx="12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收敛圆为</a:t>
                </a:r>
              </a:p>
            </p:txBody>
          </p:sp>
          <p:graphicFrame>
            <p:nvGraphicFramePr>
              <p:cNvPr id="14" name="Object 5"/>
              <p:cNvGraphicFramePr/>
              <p:nvPr/>
            </p:nvGraphicFramePr>
            <p:xfrm>
              <a:off x="3854" y="2943"/>
              <a:ext cx="1175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866265" imgH="342900" progId="Equation.3">
                      <p:embed/>
                    </p:oleObj>
                  </mc:Choice>
                  <mc:Fallback>
                    <p:oleObj name="公式" r:id="rId11" imgW="1866265" imgH="342900" progId="Equation.3">
                      <p:embed/>
                      <p:pic>
                        <p:nvPicPr>
                          <p:cNvPr id="14" name="Object 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4" y="2943"/>
                            <a:ext cx="1175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内容占位符 3"/>
          <p:cNvSpPr txBox="1"/>
          <p:nvPr/>
        </p:nvSpPr>
        <p:spPr>
          <a:xfrm>
            <a:off x="1343025" y="106363"/>
            <a:ext cx="280875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幂级数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52375"/>
              </p:ext>
            </p:extLst>
          </p:nvPr>
        </p:nvGraphicFramePr>
        <p:xfrm>
          <a:off x="1489909" y="1053740"/>
          <a:ext cx="593479" cy="395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00" imgH="190440" progId="Equation.DSMT4">
                  <p:embed/>
                </p:oleObj>
              </mc:Choice>
              <mc:Fallback>
                <p:oleObj name="Equation" r:id="rId13" imgW="266400" imgH="1904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909" y="1053740"/>
                        <a:ext cx="593479" cy="3956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279865" y="795661"/>
          <a:ext cx="724058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381600" imgH="10363200" progId="Equation.DSMT4">
                  <p:embed/>
                </p:oleObj>
              </mc:Choice>
              <mc:Fallback>
                <p:oleObj name="Equation" r:id="rId15" imgW="81381600" imgH="103632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865" y="795661"/>
                        <a:ext cx="7240588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EE2EE39-360E-0F0F-B2CC-0D372D8DCF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959272"/>
              </p:ext>
            </p:extLst>
          </p:nvPr>
        </p:nvGraphicFramePr>
        <p:xfrm>
          <a:off x="8141354" y="2210059"/>
          <a:ext cx="998537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34680" imgH="444240" progId="Equation.DSMT4">
                  <p:embed/>
                </p:oleObj>
              </mc:Choice>
              <mc:Fallback>
                <p:oleObj name="Equation" r:id="rId17" imgW="634680" imgH="4442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8B8E97A-63C5-7AA4-B72C-7742674886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41354" y="2210059"/>
                        <a:ext cx="998537" cy="700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375</Words>
  <Application>Microsoft Office PowerPoint</Application>
  <PresentationFormat>宽屏</PresentationFormat>
  <Paragraphs>73</Paragraphs>
  <Slides>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等线</vt:lpstr>
      <vt:lpstr>等线 Light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43</cp:revision>
  <dcterms:created xsi:type="dcterms:W3CDTF">2025-07-31T03:26:20Z</dcterms:created>
  <dcterms:modified xsi:type="dcterms:W3CDTF">2025-10-27T12:53:36Z</dcterms:modified>
</cp:coreProperties>
</file>